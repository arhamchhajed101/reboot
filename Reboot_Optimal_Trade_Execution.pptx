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4754880"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11480"/>
            <a:ext cx="4114800" cy="457200"/>
          </a:xfrm>
          <a:prstGeom prst="rect">
            <a:avLst/>
          </a:prstGeom>
          <a:noFill/>
        </p:spPr>
        <p:txBody>
          <a:bodyPr wrap="square">
            <a:spAutoFit/>
          </a:bodyPr>
          <a:lstStyle/>
          <a:p>
            <a:pPr algn="l"/>
            <a:r>
              <a:rPr sz="1100" b="1" i="0">
                <a:solidFill>
                  <a:srgbClr val="FFFFFF"/>
                </a:solidFill>
                <a:latin typeface="Calibri"/>
              </a:rPr>
              <a:t>R E B O O T</a:t>
            </a:r>
          </a:p>
        </p:txBody>
      </p:sp>
      <p:sp>
        <p:nvSpPr>
          <p:cNvPr id="4" name="Rectangle 3"/>
          <p:cNvSpPr/>
          <p:nvPr/>
        </p:nvSpPr>
        <p:spPr>
          <a:xfrm>
            <a:off x="365760" y="886968"/>
            <a:ext cx="1828800" cy="274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51560"/>
            <a:ext cx="4114800" cy="2743200"/>
          </a:xfrm>
          <a:prstGeom prst="rect">
            <a:avLst/>
          </a:prstGeom>
          <a:noFill/>
        </p:spPr>
        <p:txBody>
          <a:bodyPr wrap="square">
            <a:spAutoFit/>
          </a:bodyPr>
          <a:lstStyle/>
          <a:p>
            <a:pPr algn="l"/>
            <a:r>
              <a:rPr sz="4800" b="1" i="0">
                <a:solidFill>
                  <a:srgbClr val="FFFFFF"/>
                </a:solidFill>
                <a:latin typeface="Calibri"/>
              </a:rPr>
              <a:t>OPTIMAL
TRADE
EXECUTION</a:t>
            </a:r>
          </a:p>
        </p:txBody>
      </p:sp>
      <p:sp>
        <p:nvSpPr>
          <p:cNvPr id="6" name="TextBox 5"/>
          <p:cNvSpPr txBox="1"/>
          <p:nvPr/>
        </p:nvSpPr>
        <p:spPr>
          <a:xfrm>
            <a:off x="365760" y="3886200"/>
            <a:ext cx="4114800" cy="822960"/>
          </a:xfrm>
          <a:prstGeom prst="rect">
            <a:avLst/>
          </a:prstGeom>
          <a:noFill/>
        </p:spPr>
        <p:txBody>
          <a:bodyPr wrap="square">
            <a:spAutoFit/>
          </a:bodyPr>
          <a:lstStyle/>
          <a:p>
            <a:pPr algn="l"/>
            <a:r>
              <a:rPr sz="1100" b="0" i="0">
                <a:solidFill>
                  <a:srgbClr val="E5E7EB"/>
                </a:solidFill>
                <a:latin typeface="Calibri"/>
              </a:rPr>
              <a:t>Institutional-grade adaptive order execution
with real-time simulation &amp; strategy benchmarking.</a:t>
            </a:r>
          </a:p>
        </p:txBody>
      </p:sp>
      <p:sp>
        <p:nvSpPr>
          <p:cNvPr id="7" name="Rectangle 6"/>
          <p:cNvSpPr/>
          <p:nvPr/>
        </p:nvSpPr>
        <p:spPr>
          <a:xfrm>
            <a:off x="365760" y="4937760"/>
            <a:ext cx="1737360" cy="347472"/>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4983480"/>
            <a:ext cx="1737360" cy="274320"/>
          </a:xfrm>
          <a:prstGeom prst="rect">
            <a:avLst/>
          </a:prstGeom>
          <a:noFill/>
        </p:spPr>
        <p:txBody>
          <a:bodyPr wrap="square">
            <a:spAutoFit/>
          </a:bodyPr>
          <a:lstStyle/>
          <a:p>
            <a:pPr algn="ctr"/>
            <a:r>
              <a:rPr sz="900" b="1" i="0">
                <a:solidFill>
                  <a:srgbClr val="FFFFFF"/>
                </a:solidFill>
                <a:latin typeface="Calibri"/>
              </a:rPr>
              <a:t>ADAPTIVE</a:t>
            </a:r>
          </a:p>
        </p:txBody>
      </p:sp>
      <p:sp>
        <p:nvSpPr>
          <p:cNvPr id="9" name="Rectangle 8"/>
          <p:cNvSpPr/>
          <p:nvPr/>
        </p:nvSpPr>
        <p:spPr>
          <a:xfrm>
            <a:off x="2148840" y="4937760"/>
            <a:ext cx="1737360" cy="347472"/>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4983480"/>
            <a:ext cx="1737360" cy="274320"/>
          </a:xfrm>
          <a:prstGeom prst="rect">
            <a:avLst/>
          </a:prstGeom>
          <a:noFill/>
        </p:spPr>
        <p:txBody>
          <a:bodyPr wrap="square">
            <a:spAutoFit/>
          </a:bodyPr>
          <a:lstStyle/>
          <a:p>
            <a:pPr algn="ctr"/>
            <a:r>
              <a:rPr sz="900" b="1" i="0">
                <a:solidFill>
                  <a:srgbClr val="FFFFFF"/>
                </a:solidFill>
                <a:latin typeface="Calibri"/>
              </a:rPr>
              <a:t>REAL-TIME</a:t>
            </a:r>
          </a:p>
        </p:txBody>
      </p:sp>
      <p:sp>
        <p:nvSpPr>
          <p:cNvPr id="11" name="Rectangle 10"/>
          <p:cNvSpPr/>
          <p:nvPr/>
        </p:nvSpPr>
        <p:spPr>
          <a:xfrm>
            <a:off x="3931920" y="4937760"/>
            <a:ext cx="1737360" cy="347472"/>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31920" y="4983480"/>
            <a:ext cx="1737360" cy="274320"/>
          </a:xfrm>
          <a:prstGeom prst="rect">
            <a:avLst/>
          </a:prstGeom>
          <a:noFill/>
        </p:spPr>
        <p:txBody>
          <a:bodyPr wrap="square">
            <a:spAutoFit/>
          </a:bodyPr>
          <a:lstStyle/>
          <a:p>
            <a:pPr algn="ctr"/>
            <a:r>
              <a:rPr sz="900" b="1" i="0">
                <a:solidFill>
                  <a:srgbClr val="FFFFFF"/>
                </a:solidFill>
                <a:latin typeface="Calibri"/>
              </a:rPr>
              <a:t>SIMULATED</a:t>
            </a:r>
          </a:p>
        </p:txBody>
      </p:sp>
      <p:sp>
        <p:nvSpPr>
          <p:cNvPr id="13" name="TextBox 12"/>
          <p:cNvSpPr txBox="1"/>
          <p:nvPr/>
        </p:nvSpPr>
        <p:spPr>
          <a:xfrm>
            <a:off x="365760" y="6035040"/>
            <a:ext cx="4114800" cy="365760"/>
          </a:xfrm>
          <a:prstGeom prst="rect">
            <a:avLst/>
          </a:prstGeom>
          <a:noFill/>
        </p:spPr>
        <p:txBody>
          <a:bodyPr wrap="square">
            <a:spAutoFit/>
          </a:bodyPr>
          <a:lstStyle/>
          <a:p>
            <a:pPr algn="l"/>
            <a:r>
              <a:rPr sz="900" b="0" i="0">
                <a:solidFill>
                  <a:srgbClr val="6B7280"/>
                </a:solidFill>
                <a:latin typeface="Calibri"/>
              </a:rPr>
              <a:t>Hackathon 2026  ·  Team Reboot</a:t>
            </a:r>
          </a:p>
        </p:txBody>
      </p:sp>
      <p:sp>
        <p:nvSpPr>
          <p:cNvPr id="14" name="TextBox 13"/>
          <p:cNvSpPr txBox="1"/>
          <p:nvPr/>
        </p:nvSpPr>
        <p:spPr>
          <a:xfrm>
            <a:off x="5120640" y="1463040"/>
            <a:ext cx="6400800" cy="1645920"/>
          </a:xfrm>
          <a:prstGeom prst="rect">
            <a:avLst/>
          </a:prstGeom>
          <a:noFill/>
        </p:spPr>
        <p:txBody>
          <a:bodyPr wrap="square">
            <a:spAutoFit/>
          </a:bodyPr>
          <a:lstStyle/>
          <a:p>
            <a:pPr algn="ctr"/>
            <a:r>
              <a:rPr sz="8000" b="1" i="0">
                <a:solidFill>
                  <a:srgbClr val="FFFFFF"/>
                </a:solidFill>
                <a:latin typeface="Calibri"/>
              </a:rPr>
              <a:t>$500B+</a:t>
            </a:r>
          </a:p>
        </p:txBody>
      </p:sp>
      <p:sp>
        <p:nvSpPr>
          <p:cNvPr id="15" name="TextBox 14"/>
          <p:cNvSpPr txBox="1"/>
          <p:nvPr/>
        </p:nvSpPr>
        <p:spPr>
          <a:xfrm>
            <a:off x="5120640" y="3108960"/>
            <a:ext cx="6400800" cy="822960"/>
          </a:xfrm>
          <a:prstGeom prst="rect">
            <a:avLst/>
          </a:prstGeom>
          <a:noFill/>
        </p:spPr>
        <p:txBody>
          <a:bodyPr wrap="square">
            <a:spAutoFit/>
          </a:bodyPr>
          <a:lstStyle/>
          <a:p>
            <a:pPr algn="ctr"/>
            <a:r>
              <a:rPr sz="1400" b="0" i="0">
                <a:solidFill>
                  <a:srgbClr val="6B7280"/>
                </a:solidFill>
                <a:latin typeface="Calibri"/>
              </a:rPr>
              <a:t>lost annually to poor trade execution
across global institutional markets</a:t>
            </a:r>
          </a:p>
        </p:txBody>
      </p:sp>
      <p:sp>
        <p:nvSpPr>
          <p:cNvPr id="16" name="Rectangle 15"/>
          <p:cNvSpPr/>
          <p:nvPr/>
        </p:nvSpPr>
        <p:spPr>
          <a:xfrm>
            <a:off x="5943600" y="4114800"/>
            <a:ext cx="4572000" cy="27432"/>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4297680"/>
            <a:ext cx="6400800" cy="548640"/>
          </a:xfrm>
          <a:prstGeom prst="rect">
            <a:avLst/>
          </a:prstGeom>
          <a:noFill/>
        </p:spPr>
        <p:txBody>
          <a:bodyPr wrap="square">
            <a:spAutoFit/>
          </a:bodyPr>
          <a:lstStyle/>
          <a:p>
            <a:pPr algn="ctr"/>
            <a:r>
              <a:rPr sz="1500" b="1" i="0">
                <a:solidFill>
                  <a:srgbClr val="4F46E5"/>
                </a:solidFill>
                <a:latin typeface="Calibri"/>
              </a:rPr>
              <a:t>We built the system that fixes this.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502920"/>
          </a:xfrm>
          <a:prstGeom prst="rect">
            <a:avLst/>
          </a:prstGeom>
          <a:noFill/>
        </p:spPr>
        <p:txBody>
          <a:bodyPr wrap="square">
            <a:spAutoFit/>
          </a:bodyPr>
          <a:lstStyle/>
          <a:p>
            <a:pPr algn="l"/>
            <a:r>
              <a:rPr sz="3000" b="1" i="0">
                <a:solidFill>
                  <a:srgbClr val="FFFFFF"/>
                </a:solidFill>
                <a:latin typeface="Calibri"/>
              </a:rPr>
              <a:t>THE PROBLEM</a:t>
            </a:r>
          </a:p>
        </p:txBody>
      </p:sp>
      <p:sp>
        <p:nvSpPr>
          <p:cNvPr id="4" name="TextBox 3"/>
          <p:cNvSpPr txBox="1"/>
          <p:nvPr/>
        </p:nvSpPr>
        <p:spPr>
          <a:xfrm>
            <a:off x="457200" y="685800"/>
            <a:ext cx="10972800" cy="411480"/>
          </a:xfrm>
          <a:prstGeom prst="rect">
            <a:avLst/>
          </a:prstGeom>
          <a:noFill/>
        </p:spPr>
        <p:txBody>
          <a:bodyPr wrap="square">
            <a:spAutoFit/>
          </a:bodyPr>
          <a:lstStyle/>
          <a:p>
            <a:pPr algn="l"/>
            <a:r>
              <a:rPr sz="1300" b="0" i="0">
                <a:solidFill>
                  <a:srgbClr val="6B7280"/>
                </a:solidFill>
                <a:latin typeface="Calibri"/>
              </a:rPr>
              <a:t>Every large trade is a ticking clock — and the market knows you're there.</a:t>
            </a:r>
          </a:p>
        </p:txBody>
      </p:sp>
      <p:sp>
        <p:nvSpPr>
          <p:cNvPr id="5" name="Rectangle 4"/>
          <p:cNvSpPr/>
          <p:nvPr/>
        </p:nvSpPr>
        <p:spPr>
          <a:xfrm>
            <a:off x="0" y="1078992"/>
            <a:ext cx="12188952" cy="27432"/>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234440"/>
            <a:ext cx="3657600" cy="210312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34440"/>
            <a:ext cx="3657600" cy="54864"/>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99032"/>
            <a:ext cx="3291840" cy="777240"/>
          </a:xfrm>
          <a:prstGeom prst="rect">
            <a:avLst/>
          </a:prstGeom>
          <a:noFill/>
        </p:spPr>
        <p:txBody>
          <a:bodyPr wrap="square">
            <a:spAutoFit/>
          </a:bodyPr>
          <a:lstStyle/>
          <a:p>
            <a:pPr algn="l"/>
            <a:r>
              <a:rPr sz="3400" b="1" i="0">
                <a:solidFill>
                  <a:srgbClr val="EF4444"/>
                </a:solidFill>
                <a:latin typeface="Calibri"/>
              </a:rPr>
              <a:t>$0.10–$0.50</a:t>
            </a:r>
          </a:p>
        </p:txBody>
      </p:sp>
      <p:sp>
        <p:nvSpPr>
          <p:cNvPr id="9" name="TextBox 8"/>
          <p:cNvSpPr txBox="1"/>
          <p:nvPr/>
        </p:nvSpPr>
        <p:spPr>
          <a:xfrm>
            <a:off x="548640" y="2167128"/>
            <a:ext cx="3291840" cy="347472"/>
          </a:xfrm>
          <a:prstGeom prst="rect">
            <a:avLst/>
          </a:prstGeom>
          <a:noFill/>
        </p:spPr>
        <p:txBody>
          <a:bodyPr wrap="square">
            <a:spAutoFit/>
          </a:bodyPr>
          <a:lstStyle/>
          <a:p>
            <a:pPr algn="l"/>
            <a:r>
              <a:rPr sz="1000" b="1" i="0">
                <a:solidFill>
                  <a:srgbClr val="FFFFFF"/>
                </a:solidFill>
                <a:latin typeface="Calibri"/>
              </a:rPr>
              <a:t>LOST PER SHARE</a:t>
            </a:r>
          </a:p>
        </p:txBody>
      </p:sp>
      <p:sp>
        <p:nvSpPr>
          <p:cNvPr id="10" name="TextBox 9"/>
          <p:cNvSpPr txBox="1"/>
          <p:nvPr/>
        </p:nvSpPr>
        <p:spPr>
          <a:xfrm>
            <a:off x="548640" y="2514600"/>
            <a:ext cx="3291840" cy="685800"/>
          </a:xfrm>
          <a:prstGeom prst="rect">
            <a:avLst/>
          </a:prstGeom>
          <a:noFill/>
        </p:spPr>
        <p:txBody>
          <a:bodyPr wrap="square">
            <a:spAutoFit/>
          </a:bodyPr>
          <a:lstStyle/>
          <a:p>
            <a:pPr algn="l"/>
            <a:r>
              <a:rPr sz="900" b="0" i="0">
                <a:solidFill>
                  <a:srgbClr val="6B7280"/>
                </a:solidFill>
                <a:latin typeface="Calibri"/>
              </a:rPr>
              <a:t>on every large institutional order due to market impact alone.</a:t>
            </a:r>
          </a:p>
        </p:txBody>
      </p:sp>
      <p:sp>
        <p:nvSpPr>
          <p:cNvPr id="11" name="Rectangle 10"/>
          <p:cNvSpPr/>
          <p:nvPr/>
        </p:nvSpPr>
        <p:spPr>
          <a:xfrm>
            <a:off x="4297680" y="1234440"/>
            <a:ext cx="3657600" cy="210312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1234440"/>
            <a:ext cx="365760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1399032"/>
            <a:ext cx="3291840" cy="777240"/>
          </a:xfrm>
          <a:prstGeom prst="rect">
            <a:avLst/>
          </a:prstGeom>
          <a:noFill/>
        </p:spPr>
        <p:txBody>
          <a:bodyPr wrap="square">
            <a:spAutoFit/>
          </a:bodyPr>
          <a:lstStyle/>
          <a:p>
            <a:pPr algn="l"/>
            <a:r>
              <a:rPr sz="3400" b="1" i="0">
                <a:solidFill>
                  <a:srgbClr val="F59E0B"/>
                </a:solidFill>
                <a:latin typeface="Calibri"/>
              </a:rPr>
              <a:t>30–50 bps</a:t>
            </a:r>
          </a:p>
        </p:txBody>
      </p:sp>
      <p:sp>
        <p:nvSpPr>
          <p:cNvPr id="14" name="TextBox 13"/>
          <p:cNvSpPr txBox="1"/>
          <p:nvPr/>
        </p:nvSpPr>
        <p:spPr>
          <a:xfrm>
            <a:off x="4480560" y="2167128"/>
            <a:ext cx="3291840" cy="347472"/>
          </a:xfrm>
          <a:prstGeom prst="rect">
            <a:avLst/>
          </a:prstGeom>
          <a:noFill/>
        </p:spPr>
        <p:txBody>
          <a:bodyPr wrap="square">
            <a:spAutoFit/>
          </a:bodyPr>
          <a:lstStyle/>
          <a:p>
            <a:pPr algn="l"/>
            <a:r>
              <a:rPr sz="1000" b="1" i="0">
                <a:solidFill>
                  <a:srgbClr val="FFFFFF"/>
                </a:solidFill>
                <a:latin typeface="Calibri"/>
              </a:rPr>
              <a:t>EXECUTION SLIPPAGE</a:t>
            </a:r>
          </a:p>
        </p:txBody>
      </p:sp>
      <p:sp>
        <p:nvSpPr>
          <p:cNvPr id="15" name="TextBox 14"/>
          <p:cNvSpPr txBox="1"/>
          <p:nvPr/>
        </p:nvSpPr>
        <p:spPr>
          <a:xfrm>
            <a:off x="4480560" y="2514600"/>
            <a:ext cx="3291840" cy="685800"/>
          </a:xfrm>
          <a:prstGeom prst="rect">
            <a:avLst/>
          </a:prstGeom>
          <a:noFill/>
        </p:spPr>
        <p:txBody>
          <a:bodyPr wrap="square">
            <a:spAutoFit/>
          </a:bodyPr>
          <a:lstStyle/>
          <a:p>
            <a:pPr algn="l"/>
            <a:r>
              <a:rPr sz="900" b="0" i="0">
                <a:solidFill>
                  <a:srgbClr val="6B7280"/>
                </a:solidFill>
                <a:latin typeface="Calibri"/>
              </a:rPr>
              <a:t>is the average Implementation Shortfall on mid-cap equity orders.</a:t>
            </a:r>
          </a:p>
        </p:txBody>
      </p:sp>
      <p:sp>
        <p:nvSpPr>
          <p:cNvPr id="16" name="Rectangle 15"/>
          <p:cNvSpPr/>
          <p:nvPr/>
        </p:nvSpPr>
        <p:spPr>
          <a:xfrm>
            <a:off x="8229600" y="1234440"/>
            <a:ext cx="3657600" cy="210312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1234440"/>
            <a:ext cx="3657600"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1399032"/>
            <a:ext cx="3291840" cy="777240"/>
          </a:xfrm>
          <a:prstGeom prst="rect">
            <a:avLst/>
          </a:prstGeom>
          <a:noFill/>
        </p:spPr>
        <p:txBody>
          <a:bodyPr wrap="square">
            <a:spAutoFit/>
          </a:bodyPr>
          <a:lstStyle/>
          <a:p>
            <a:pPr algn="l"/>
            <a:r>
              <a:rPr sz="3400" b="1" i="0">
                <a:solidFill>
                  <a:srgbClr val="4F46E5"/>
                </a:solidFill>
                <a:latin typeface="Calibri"/>
              </a:rPr>
              <a:t>3× worse</a:t>
            </a:r>
          </a:p>
        </p:txBody>
      </p:sp>
      <p:sp>
        <p:nvSpPr>
          <p:cNvPr id="19" name="TextBox 18"/>
          <p:cNvSpPr txBox="1"/>
          <p:nvPr/>
        </p:nvSpPr>
        <p:spPr>
          <a:xfrm>
            <a:off x="8412480" y="2167128"/>
            <a:ext cx="3291840" cy="347472"/>
          </a:xfrm>
          <a:prstGeom prst="rect">
            <a:avLst/>
          </a:prstGeom>
          <a:noFill/>
        </p:spPr>
        <p:txBody>
          <a:bodyPr wrap="square">
            <a:spAutoFit/>
          </a:bodyPr>
          <a:lstStyle/>
          <a:p>
            <a:pPr algn="l"/>
            <a:r>
              <a:rPr sz="1000" b="1" i="0">
                <a:solidFill>
                  <a:srgbClr val="FFFFFF"/>
                </a:solidFill>
                <a:latin typeface="Calibri"/>
              </a:rPr>
              <a:t>TWAP UNDERPERFORMS</a:t>
            </a:r>
          </a:p>
        </p:txBody>
      </p:sp>
      <p:sp>
        <p:nvSpPr>
          <p:cNvPr id="20" name="TextBox 19"/>
          <p:cNvSpPr txBox="1"/>
          <p:nvPr/>
        </p:nvSpPr>
        <p:spPr>
          <a:xfrm>
            <a:off x="8412480" y="2514600"/>
            <a:ext cx="3291840" cy="685800"/>
          </a:xfrm>
          <a:prstGeom prst="rect">
            <a:avLst/>
          </a:prstGeom>
          <a:noFill/>
        </p:spPr>
        <p:txBody>
          <a:bodyPr wrap="square">
            <a:spAutoFit/>
          </a:bodyPr>
          <a:lstStyle/>
          <a:p>
            <a:pPr algn="l"/>
            <a:r>
              <a:rPr sz="900" b="0" i="0">
                <a:solidFill>
                  <a:srgbClr val="6B7280"/>
                </a:solidFill>
                <a:latin typeface="Calibri"/>
              </a:rPr>
              <a:t>in volatile or illiquid markets vs an adaptive execution strategy.</a:t>
            </a:r>
          </a:p>
        </p:txBody>
      </p:sp>
      <p:sp>
        <p:nvSpPr>
          <p:cNvPr id="21" name="Rectangle 20"/>
          <p:cNvSpPr/>
          <p:nvPr/>
        </p:nvSpPr>
        <p:spPr>
          <a:xfrm>
            <a:off x="365760" y="3566160"/>
            <a:ext cx="1145743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3566160"/>
            <a:ext cx="64008" cy="10058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639312"/>
            <a:ext cx="10972800" cy="868680"/>
          </a:xfrm>
          <a:prstGeom prst="rect">
            <a:avLst/>
          </a:prstGeom>
          <a:noFill/>
        </p:spPr>
        <p:txBody>
          <a:bodyPr wrap="square">
            <a:spAutoFit/>
          </a:bodyPr>
          <a:lstStyle/>
          <a:p>
            <a:pPr algn="l"/>
            <a:r>
              <a:rPr sz="1150" b="0" i="0">
                <a:solidFill>
                  <a:srgbClr val="E5E7EB"/>
                </a:solidFill>
                <a:latin typeface="Calibri"/>
              </a:rPr>
              <a:t>A trader with 10,000 shares to sell has one window to act. Sell too fast → you crash the price against yourself. Sell too slow → the market moves away and you miss your window entirely. Static strategies like TWAP don't adapt — they just fail quietly.</a:t>
            </a:r>
          </a:p>
        </p:txBody>
      </p:sp>
      <p:sp>
        <p:nvSpPr>
          <p:cNvPr id="24" name="Rectangle 23"/>
          <p:cNvSpPr/>
          <p:nvPr/>
        </p:nvSpPr>
        <p:spPr>
          <a:xfrm>
            <a:off x="365760" y="4800600"/>
            <a:ext cx="3657600" cy="169164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4928616"/>
            <a:ext cx="3291840" cy="384048"/>
          </a:xfrm>
          <a:prstGeom prst="rect">
            <a:avLst/>
          </a:prstGeom>
          <a:noFill/>
        </p:spPr>
        <p:txBody>
          <a:bodyPr wrap="square">
            <a:spAutoFit/>
          </a:bodyPr>
          <a:lstStyle/>
          <a:p>
            <a:pPr algn="l"/>
            <a:r>
              <a:rPr sz="1100" b="1" i="0">
                <a:solidFill>
                  <a:srgbClr val="F59E0B"/>
                </a:solidFill>
                <a:latin typeface="Calibri"/>
              </a:rPr>
              <a:t>↳  Market Impact</a:t>
            </a:r>
          </a:p>
        </p:txBody>
      </p:sp>
      <p:sp>
        <p:nvSpPr>
          <p:cNvPr id="26" name="TextBox 25"/>
          <p:cNvSpPr txBox="1"/>
          <p:nvPr/>
        </p:nvSpPr>
        <p:spPr>
          <a:xfrm>
            <a:off x="530352" y="5294376"/>
            <a:ext cx="3291840" cy="1005840"/>
          </a:xfrm>
          <a:prstGeom prst="rect">
            <a:avLst/>
          </a:prstGeom>
          <a:noFill/>
        </p:spPr>
        <p:txBody>
          <a:bodyPr wrap="square">
            <a:spAutoFit/>
          </a:bodyPr>
          <a:lstStyle/>
          <a:p>
            <a:pPr algn="l"/>
            <a:r>
              <a:rPr sz="1000" b="0" i="0">
                <a:solidFill>
                  <a:srgbClr val="E5E7EB"/>
                </a:solidFill>
                <a:latin typeface="Calibri"/>
              </a:rPr>
              <a:t>Each child order shifts prices against you — the larger the slice, the worse the price.</a:t>
            </a:r>
          </a:p>
        </p:txBody>
      </p:sp>
      <p:sp>
        <p:nvSpPr>
          <p:cNvPr id="27" name="Rectangle 26"/>
          <p:cNvSpPr/>
          <p:nvPr/>
        </p:nvSpPr>
        <p:spPr>
          <a:xfrm>
            <a:off x="4297680" y="4800600"/>
            <a:ext cx="3657600" cy="169164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62272" y="4928616"/>
            <a:ext cx="3291840" cy="384048"/>
          </a:xfrm>
          <a:prstGeom prst="rect">
            <a:avLst/>
          </a:prstGeom>
          <a:noFill/>
        </p:spPr>
        <p:txBody>
          <a:bodyPr wrap="square">
            <a:spAutoFit/>
          </a:bodyPr>
          <a:lstStyle/>
          <a:p>
            <a:pPr algn="l"/>
            <a:r>
              <a:rPr sz="1100" b="1" i="0">
                <a:solidFill>
                  <a:srgbClr val="F59E0B"/>
                </a:solidFill>
                <a:latin typeface="Calibri"/>
              </a:rPr>
              <a:t>↳  Regime Blindness</a:t>
            </a:r>
          </a:p>
        </p:txBody>
      </p:sp>
      <p:sp>
        <p:nvSpPr>
          <p:cNvPr id="29" name="TextBox 28"/>
          <p:cNvSpPr txBox="1"/>
          <p:nvPr/>
        </p:nvSpPr>
        <p:spPr>
          <a:xfrm>
            <a:off x="4462272" y="5294376"/>
            <a:ext cx="3291840" cy="1005840"/>
          </a:xfrm>
          <a:prstGeom prst="rect">
            <a:avLst/>
          </a:prstGeom>
          <a:noFill/>
        </p:spPr>
        <p:txBody>
          <a:bodyPr wrap="square">
            <a:spAutoFit/>
          </a:bodyPr>
          <a:lstStyle/>
          <a:p>
            <a:pPr algn="l"/>
            <a:r>
              <a:rPr sz="1000" b="0" i="0">
                <a:solidFill>
                  <a:srgbClr val="E5E7EB"/>
                </a:solidFill>
                <a:latin typeface="Calibri"/>
              </a:rPr>
              <a:t>Volatility spikes and liquidity crises mid-execution break fixed-schedule strategies.</a:t>
            </a:r>
          </a:p>
        </p:txBody>
      </p:sp>
      <p:sp>
        <p:nvSpPr>
          <p:cNvPr id="30" name="Rectangle 29"/>
          <p:cNvSpPr/>
          <p:nvPr/>
        </p:nvSpPr>
        <p:spPr>
          <a:xfrm>
            <a:off x="8229600" y="4800600"/>
            <a:ext cx="3657600" cy="169164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94192" y="4928616"/>
            <a:ext cx="3291840" cy="384048"/>
          </a:xfrm>
          <a:prstGeom prst="rect">
            <a:avLst/>
          </a:prstGeom>
          <a:noFill/>
        </p:spPr>
        <p:txBody>
          <a:bodyPr wrap="square">
            <a:spAutoFit/>
          </a:bodyPr>
          <a:lstStyle/>
          <a:p>
            <a:pPr algn="l"/>
            <a:r>
              <a:rPr sz="1100" b="1" i="0">
                <a:solidFill>
                  <a:srgbClr val="F59E0B"/>
                </a:solidFill>
                <a:latin typeface="Calibri"/>
              </a:rPr>
              <a:t>↳  No Benchmarking</a:t>
            </a:r>
          </a:p>
        </p:txBody>
      </p:sp>
      <p:sp>
        <p:nvSpPr>
          <p:cNvPr id="32" name="TextBox 31"/>
          <p:cNvSpPr txBox="1"/>
          <p:nvPr/>
        </p:nvSpPr>
        <p:spPr>
          <a:xfrm>
            <a:off x="8394192" y="5294376"/>
            <a:ext cx="3291840" cy="1005840"/>
          </a:xfrm>
          <a:prstGeom prst="rect">
            <a:avLst/>
          </a:prstGeom>
          <a:noFill/>
        </p:spPr>
        <p:txBody>
          <a:bodyPr wrap="square">
            <a:spAutoFit/>
          </a:bodyPr>
          <a:lstStyle/>
          <a:p>
            <a:pPr algn="l"/>
            <a:r>
              <a:rPr sz="1000" b="0" i="0">
                <a:solidFill>
                  <a:srgbClr val="E5E7EB"/>
                </a:solidFill>
                <a:latin typeface="Calibri"/>
              </a:rPr>
              <a:t>Without apples-to-apples comparison, traders can't know which strategy actually won.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502920"/>
          </a:xfrm>
          <a:prstGeom prst="rect">
            <a:avLst/>
          </a:prstGeom>
          <a:noFill/>
        </p:spPr>
        <p:txBody>
          <a:bodyPr wrap="square">
            <a:spAutoFit/>
          </a:bodyPr>
          <a:lstStyle/>
          <a:p>
            <a:pPr algn="l"/>
            <a:r>
              <a:rPr sz="3000" b="1" i="0">
                <a:solidFill>
                  <a:srgbClr val="FFFFFF"/>
                </a:solidFill>
                <a:latin typeface="Calibri"/>
              </a:rPr>
              <a:t>OUR SOLUTION</a:t>
            </a:r>
          </a:p>
        </p:txBody>
      </p:sp>
      <p:sp>
        <p:nvSpPr>
          <p:cNvPr id="4" name="TextBox 3"/>
          <p:cNvSpPr txBox="1"/>
          <p:nvPr/>
        </p:nvSpPr>
        <p:spPr>
          <a:xfrm>
            <a:off x="457200" y="685800"/>
            <a:ext cx="10972800" cy="365760"/>
          </a:xfrm>
          <a:prstGeom prst="rect">
            <a:avLst/>
          </a:prstGeom>
          <a:noFill/>
        </p:spPr>
        <p:txBody>
          <a:bodyPr wrap="square">
            <a:spAutoFit/>
          </a:bodyPr>
          <a:lstStyle/>
          <a:p>
            <a:pPr algn="l"/>
            <a:r>
              <a:rPr sz="1300" b="0" i="0">
                <a:solidFill>
                  <a:srgbClr val="6B7280"/>
                </a:solidFill>
                <a:latin typeface="Calibri"/>
              </a:rPr>
              <a:t>A full-stack intelligent execution engine that adapts in real time.</a:t>
            </a:r>
          </a:p>
        </p:txBody>
      </p:sp>
      <p:sp>
        <p:nvSpPr>
          <p:cNvPr id="5" name="Rectangle 4"/>
          <p:cNvSpPr/>
          <p:nvPr/>
        </p:nvSpPr>
        <p:spPr>
          <a:xfrm>
            <a:off x="0" y="1078992"/>
            <a:ext cx="12188952" cy="27432"/>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188720"/>
            <a:ext cx="11457432" cy="8686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98448"/>
            <a:ext cx="11064240" cy="685800"/>
          </a:xfrm>
          <a:prstGeom prst="rect">
            <a:avLst/>
          </a:prstGeom>
          <a:noFill/>
        </p:spPr>
        <p:txBody>
          <a:bodyPr wrap="square">
            <a:spAutoFit/>
          </a:bodyPr>
          <a:lstStyle/>
          <a:p>
            <a:pPr algn="l"/>
            <a:r>
              <a:rPr sz="1300" b="0" i="0">
                <a:solidFill>
                  <a:srgbClr val="FFFFFF"/>
                </a:solidFill>
                <a:latin typeface="Calibri"/>
              </a:rPr>
              <a:t>We simulate the market, replay the order, compare every strategy on the same data — and show exactly where and why one wins.</a:t>
            </a:r>
          </a:p>
        </p:txBody>
      </p:sp>
      <p:sp>
        <p:nvSpPr>
          <p:cNvPr id="8" name="Rectangle 7"/>
          <p:cNvSpPr/>
          <p:nvPr/>
        </p:nvSpPr>
        <p:spPr>
          <a:xfrm>
            <a:off x="365760" y="2240280"/>
            <a:ext cx="5623560" cy="192024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2240280"/>
            <a:ext cx="64008" cy="192024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368296"/>
            <a:ext cx="5349240" cy="384048"/>
          </a:xfrm>
          <a:prstGeom prst="rect">
            <a:avLst/>
          </a:prstGeom>
          <a:noFill/>
        </p:spPr>
        <p:txBody>
          <a:bodyPr wrap="square">
            <a:spAutoFit/>
          </a:bodyPr>
          <a:lstStyle/>
          <a:p>
            <a:pPr algn="l"/>
            <a:r>
              <a:rPr sz="1300" b="1" i="0">
                <a:solidFill>
                  <a:srgbClr val="FFFFFF"/>
                </a:solidFill>
                <a:latin typeface="Calibri"/>
              </a:rPr>
              <a:t>🔁  Market Simulator</a:t>
            </a:r>
          </a:p>
        </p:txBody>
      </p:sp>
      <p:sp>
        <p:nvSpPr>
          <p:cNvPr id="11" name="TextBox 10"/>
          <p:cNvSpPr txBox="1"/>
          <p:nvPr/>
        </p:nvSpPr>
        <p:spPr>
          <a:xfrm>
            <a:off x="566928" y="2788920"/>
            <a:ext cx="5349240" cy="1234440"/>
          </a:xfrm>
          <a:prstGeom prst="rect">
            <a:avLst/>
          </a:prstGeom>
          <a:noFill/>
        </p:spPr>
        <p:txBody>
          <a:bodyPr wrap="square">
            <a:spAutoFit/>
          </a:bodyPr>
          <a:lstStyle/>
          <a:p>
            <a:pPr algn="l"/>
            <a:r>
              <a:rPr sz="1000" b="0" i="0">
                <a:solidFill>
                  <a:srgbClr val="E5E7EB"/>
                </a:solidFill>
                <a:latin typeface="Calibri"/>
              </a:rPr>
              <a:t>Geometric Brownian Motion price engine with configurable volatility, liquidity, spread, and volume. Supports 4 shock scenarios — volatility spike, liquidity crunch, combined crisis, and real Kaggle LOB data replay. Fully seed-driven for reproducible experiments.</a:t>
            </a:r>
          </a:p>
        </p:txBody>
      </p:sp>
      <p:sp>
        <p:nvSpPr>
          <p:cNvPr id="12" name="Rectangle 11"/>
          <p:cNvSpPr/>
          <p:nvPr/>
        </p:nvSpPr>
        <p:spPr>
          <a:xfrm>
            <a:off x="6309360" y="2240280"/>
            <a:ext cx="5623560" cy="192024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2240280"/>
            <a:ext cx="64008" cy="192024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0528" y="2368296"/>
            <a:ext cx="5349240" cy="384048"/>
          </a:xfrm>
          <a:prstGeom prst="rect">
            <a:avLst/>
          </a:prstGeom>
          <a:noFill/>
        </p:spPr>
        <p:txBody>
          <a:bodyPr wrap="square">
            <a:spAutoFit/>
          </a:bodyPr>
          <a:lstStyle/>
          <a:p>
            <a:pPr algn="l"/>
            <a:r>
              <a:rPr sz="1300" b="1" i="0">
                <a:solidFill>
                  <a:srgbClr val="FFFFFF"/>
                </a:solidFill>
                <a:latin typeface="Calibri"/>
              </a:rPr>
              <a:t>🧠  Adaptive Strategy Engine</a:t>
            </a:r>
          </a:p>
        </p:txBody>
      </p:sp>
      <p:sp>
        <p:nvSpPr>
          <p:cNvPr id="15" name="TextBox 14"/>
          <p:cNvSpPr txBox="1"/>
          <p:nvPr/>
        </p:nvSpPr>
        <p:spPr>
          <a:xfrm>
            <a:off x="6510528" y="2788920"/>
            <a:ext cx="5349240" cy="1234440"/>
          </a:xfrm>
          <a:prstGeom prst="rect">
            <a:avLst/>
          </a:prstGeom>
          <a:noFill/>
        </p:spPr>
        <p:txBody>
          <a:bodyPr wrap="square">
            <a:spAutoFit/>
          </a:bodyPr>
          <a:lstStyle/>
          <a:p>
            <a:pPr algn="l"/>
            <a:r>
              <a:rPr sz="1000" b="0" i="0">
                <a:solidFill>
                  <a:srgbClr val="E5E7EB"/>
                </a:solidFill>
                <a:latin typeface="Calibri"/>
              </a:rPr>
              <a:t>At every 1-second tick, the strategy reads the current market regime and adjusts its child-order size, aggressiveness, and participation rate. Detects volatility shocks and liquidity droughts in real time. Achieved 53% cost reduction vs TWAP baseline on Kaggle Optiver data.</a:t>
            </a:r>
          </a:p>
        </p:txBody>
      </p:sp>
      <p:sp>
        <p:nvSpPr>
          <p:cNvPr id="16" name="Rectangle 15"/>
          <p:cNvSpPr/>
          <p:nvPr/>
        </p:nvSpPr>
        <p:spPr>
          <a:xfrm>
            <a:off x="365760" y="4389120"/>
            <a:ext cx="5623560" cy="192024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4389120"/>
            <a:ext cx="64008"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4517136"/>
            <a:ext cx="5349240" cy="384048"/>
          </a:xfrm>
          <a:prstGeom prst="rect">
            <a:avLst/>
          </a:prstGeom>
          <a:noFill/>
        </p:spPr>
        <p:txBody>
          <a:bodyPr wrap="square">
            <a:spAutoFit/>
          </a:bodyPr>
          <a:lstStyle/>
          <a:p>
            <a:pPr algn="l"/>
            <a:r>
              <a:rPr sz="1300" b="1" i="0">
                <a:solidFill>
                  <a:srgbClr val="FFFFFF"/>
                </a:solidFill>
                <a:latin typeface="Calibri"/>
              </a:rPr>
              <a:t>⚙️  Almgren-Chriss Cost Model</a:t>
            </a:r>
          </a:p>
        </p:txBody>
      </p:sp>
      <p:sp>
        <p:nvSpPr>
          <p:cNvPr id="19" name="TextBox 18"/>
          <p:cNvSpPr txBox="1"/>
          <p:nvPr/>
        </p:nvSpPr>
        <p:spPr>
          <a:xfrm>
            <a:off x="566928" y="4937760"/>
            <a:ext cx="5349240" cy="1234440"/>
          </a:xfrm>
          <a:prstGeom prst="rect">
            <a:avLst/>
          </a:prstGeom>
          <a:noFill/>
        </p:spPr>
        <p:txBody>
          <a:bodyPr wrap="square">
            <a:spAutoFit/>
          </a:bodyPr>
          <a:lstStyle/>
          <a:p>
            <a:pPr algn="l"/>
            <a:r>
              <a:rPr sz="1000" b="0" i="0">
                <a:solidFill>
                  <a:srgbClr val="E5E7EB"/>
                </a:solidFill>
                <a:latin typeface="Calibri"/>
              </a:rPr>
              <a:t>Realistic execution cost decomposition: half-spread cost, square-root market impact (price permanent + temporary), and transaction fees — computed separately per BUY/SELL direction. Grounded in academic finance theory.</a:t>
            </a:r>
          </a:p>
        </p:txBody>
      </p:sp>
      <p:sp>
        <p:nvSpPr>
          <p:cNvPr id="20" name="Rectangle 19"/>
          <p:cNvSpPr/>
          <p:nvPr/>
        </p:nvSpPr>
        <p:spPr>
          <a:xfrm>
            <a:off x="6309360" y="4389120"/>
            <a:ext cx="5623560" cy="192024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60" y="4389120"/>
            <a:ext cx="64008" cy="19202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4517136"/>
            <a:ext cx="5349240" cy="384048"/>
          </a:xfrm>
          <a:prstGeom prst="rect">
            <a:avLst/>
          </a:prstGeom>
          <a:noFill/>
        </p:spPr>
        <p:txBody>
          <a:bodyPr wrap="square">
            <a:spAutoFit/>
          </a:bodyPr>
          <a:lstStyle/>
          <a:p>
            <a:pPr algn="l"/>
            <a:r>
              <a:rPr sz="1300" b="1" i="0">
                <a:solidFill>
                  <a:srgbClr val="FFFFFF"/>
                </a:solidFill>
                <a:latin typeface="Calibri"/>
              </a:rPr>
              <a:t>📡  Live Streaming API</a:t>
            </a:r>
          </a:p>
        </p:txBody>
      </p:sp>
      <p:sp>
        <p:nvSpPr>
          <p:cNvPr id="23" name="TextBox 22"/>
          <p:cNvSpPr txBox="1"/>
          <p:nvPr/>
        </p:nvSpPr>
        <p:spPr>
          <a:xfrm>
            <a:off x="6510528" y="4937760"/>
            <a:ext cx="5349240" cy="1234440"/>
          </a:xfrm>
          <a:prstGeom prst="rect">
            <a:avLst/>
          </a:prstGeom>
          <a:noFill/>
        </p:spPr>
        <p:txBody>
          <a:bodyPr wrap="square">
            <a:spAutoFit/>
          </a:bodyPr>
          <a:lstStyle/>
          <a:p>
            <a:pPr algn="l"/>
            <a:r>
              <a:rPr sz="1000" b="0" i="0">
                <a:solidFill>
                  <a:srgbClr val="E5E7EB"/>
                </a:solidFill>
                <a:latin typeface="Calibri"/>
              </a:rPr>
              <a:t>FastAPI backend with WebSocket event bus streams every market tick, strategy decision, and fill result in real time to the React dashboard. REST endpoints for run creation, replay, and strategy benchmarking. PostgreSQL persistence for full audit trail.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9144000" cy="502920"/>
          </a:xfrm>
          <a:prstGeom prst="rect">
            <a:avLst/>
          </a:prstGeom>
          <a:noFill/>
        </p:spPr>
        <p:txBody>
          <a:bodyPr wrap="square">
            <a:spAutoFit/>
          </a:bodyPr>
          <a:lstStyle/>
          <a:p>
            <a:pPr algn="l"/>
            <a:r>
              <a:rPr sz="3000" b="1" i="0">
                <a:solidFill>
                  <a:srgbClr val="FFFFFF"/>
                </a:solidFill>
                <a:latin typeface="Calibri"/>
              </a:rPr>
              <a:t>ARCHITECTURE &amp; EXECUTION FLOW</a:t>
            </a:r>
          </a:p>
        </p:txBody>
      </p:sp>
      <p:sp>
        <p:nvSpPr>
          <p:cNvPr id="4" name="TextBox 3"/>
          <p:cNvSpPr txBox="1"/>
          <p:nvPr/>
        </p:nvSpPr>
        <p:spPr>
          <a:xfrm>
            <a:off x="457200" y="685800"/>
            <a:ext cx="10972800" cy="365760"/>
          </a:xfrm>
          <a:prstGeom prst="rect">
            <a:avLst/>
          </a:prstGeom>
          <a:noFill/>
        </p:spPr>
        <p:txBody>
          <a:bodyPr wrap="square">
            <a:spAutoFit/>
          </a:bodyPr>
          <a:lstStyle/>
          <a:p>
            <a:pPr algn="l"/>
            <a:r>
              <a:rPr sz="1300" b="0" i="0">
                <a:solidFill>
                  <a:srgbClr val="6B7280"/>
                </a:solidFill>
                <a:latin typeface="Calibri"/>
              </a:rPr>
              <a:t>How the system is structured and how an order moves through it.</a:t>
            </a:r>
          </a:p>
        </p:txBody>
      </p:sp>
      <p:sp>
        <p:nvSpPr>
          <p:cNvPr id="5" name="Rectangle 4"/>
          <p:cNvSpPr/>
          <p:nvPr/>
        </p:nvSpPr>
        <p:spPr>
          <a:xfrm>
            <a:off x="0" y="1078992"/>
            <a:ext cx="12188952" cy="27432"/>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261872"/>
            <a:ext cx="5760720" cy="109728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61872"/>
            <a:ext cx="64008" cy="10972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353312"/>
            <a:ext cx="2743200" cy="320040"/>
          </a:xfrm>
          <a:prstGeom prst="rect">
            <a:avLst/>
          </a:prstGeom>
          <a:noFill/>
        </p:spPr>
        <p:txBody>
          <a:bodyPr wrap="square">
            <a:spAutoFit/>
          </a:bodyPr>
          <a:lstStyle/>
          <a:p>
            <a:pPr algn="l"/>
            <a:r>
              <a:rPr sz="900" b="1" i="0">
                <a:solidFill>
                  <a:srgbClr val="14B8A6"/>
                </a:solidFill>
                <a:latin typeface="Calibri"/>
              </a:rPr>
              <a:t>PRESENTATION</a:t>
            </a:r>
          </a:p>
        </p:txBody>
      </p:sp>
      <p:sp>
        <p:nvSpPr>
          <p:cNvPr id="9" name="TextBox 8"/>
          <p:cNvSpPr txBox="1"/>
          <p:nvPr/>
        </p:nvSpPr>
        <p:spPr>
          <a:xfrm>
            <a:off x="566928" y="1673352"/>
            <a:ext cx="5486400" cy="594360"/>
          </a:xfrm>
          <a:prstGeom prst="rect">
            <a:avLst/>
          </a:prstGeom>
          <a:noFill/>
        </p:spPr>
        <p:txBody>
          <a:bodyPr wrap="square">
            <a:spAutoFit/>
          </a:bodyPr>
          <a:lstStyle/>
          <a:p>
            <a:pPr algn="l"/>
            <a:r>
              <a:rPr sz="1050" b="0" i="0">
                <a:solidFill>
                  <a:srgbClr val="E5E7EB"/>
                </a:solidFill>
                <a:latin typeface="Calibri"/>
              </a:rPr>
              <a:t>React Dashboard · Live Charts · Config Form · Benchmark Panel</a:t>
            </a:r>
          </a:p>
        </p:txBody>
      </p:sp>
      <p:sp>
        <p:nvSpPr>
          <p:cNvPr id="10" name="TextBox 9"/>
          <p:cNvSpPr txBox="1"/>
          <p:nvPr/>
        </p:nvSpPr>
        <p:spPr>
          <a:xfrm>
            <a:off x="2926080" y="2359152"/>
            <a:ext cx="457200" cy="274320"/>
          </a:xfrm>
          <a:prstGeom prst="rect">
            <a:avLst/>
          </a:prstGeom>
          <a:noFill/>
        </p:spPr>
        <p:txBody>
          <a:bodyPr wrap="square">
            <a:spAutoFit/>
          </a:bodyPr>
          <a:lstStyle/>
          <a:p>
            <a:pPr algn="ctr"/>
            <a:r>
              <a:rPr sz="1200" b="0" i="0">
                <a:solidFill>
                  <a:srgbClr val="6B7280"/>
                </a:solidFill>
                <a:latin typeface="Calibri"/>
              </a:rPr>
              <a:t>▼</a:t>
            </a:r>
          </a:p>
        </p:txBody>
      </p:sp>
      <p:sp>
        <p:nvSpPr>
          <p:cNvPr id="11" name="Rectangle 10"/>
          <p:cNvSpPr/>
          <p:nvPr/>
        </p:nvSpPr>
        <p:spPr>
          <a:xfrm>
            <a:off x="365760" y="2560320"/>
            <a:ext cx="5760720" cy="109728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560320"/>
            <a:ext cx="64008" cy="10972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651760"/>
            <a:ext cx="2743200" cy="320040"/>
          </a:xfrm>
          <a:prstGeom prst="rect">
            <a:avLst/>
          </a:prstGeom>
          <a:noFill/>
        </p:spPr>
        <p:txBody>
          <a:bodyPr wrap="square">
            <a:spAutoFit/>
          </a:bodyPr>
          <a:lstStyle/>
          <a:p>
            <a:pPr algn="l"/>
            <a:r>
              <a:rPr sz="900" b="1" i="0">
                <a:solidFill>
                  <a:srgbClr val="4F46E5"/>
                </a:solidFill>
                <a:latin typeface="Calibri"/>
              </a:rPr>
              <a:t>APPLICATION</a:t>
            </a:r>
          </a:p>
        </p:txBody>
      </p:sp>
      <p:sp>
        <p:nvSpPr>
          <p:cNvPr id="14" name="TextBox 13"/>
          <p:cNvSpPr txBox="1"/>
          <p:nvPr/>
        </p:nvSpPr>
        <p:spPr>
          <a:xfrm>
            <a:off x="566928" y="2971800"/>
            <a:ext cx="5486400" cy="594360"/>
          </a:xfrm>
          <a:prstGeom prst="rect">
            <a:avLst/>
          </a:prstGeom>
          <a:noFill/>
        </p:spPr>
        <p:txBody>
          <a:bodyPr wrap="square">
            <a:spAutoFit/>
          </a:bodyPr>
          <a:lstStyle/>
          <a:p>
            <a:pPr algn="l"/>
            <a:r>
              <a:rPr sz="1050" b="0" i="0">
                <a:solidFill>
                  <a:srgbClr val="E5E7EB"/>
                </a:solidFill>
                <a:latin typeface="Calibri"/>
              </a:rPr>
              <a:t>FastAPI REST  ·  WebSocket Event Bus  ·  Run Service  ·  Router</a:t>
            </a:r>
          </a:p>
        </p:txBody>
      </p:sp>
      <p:sp>
        <p:nvSpPr>
          <p:cNvPr id="15" name="TextBox 14"/>
          <p:cNvSpPr txBox="1"/>
          <p:nvPr/>
        </p:nvSpPr>
        <p:spPr>
          <a:xfrm>
            <a:off x="2926080" y="3657600"/>
            <a:ext cx="457200" cy="274320"/>
          </a:xfrm>
          <a:prstGeom prst="rect">
            <a:avLst/>
          </a:prstGeom>
          <a:noFill/>
        </p:spPr>
        <p:txBody>
          <a:bodyPr wrap="square">
            <a:spAutoFit/>
          </a:bodyPr>
          <a:lstStyle/>
          <a:p>
            <a:pPr algn="ctr"/>
            <a:r>
              <a:rPr sz="1200" b="0" i="0">
                <a:solidFill>
                  <a:srgbClr val="6B7280"/>
                </a:solidFill>
                <a:latin typeface="Calibri"/>
              </a:rPr>
              <a:t>▼</a:t>
            </a:r>
          </a:p>
        </p:txBody>
      </p:sp>
      <p:sp>
        <p:nvSpPr>
          <p:cNvPr id="16" name="Rectangle 15"/>
          <p:cNvSpPr/>
          <p:nvPr/>
        </p:nvSpPr>
        <p:spPr>
          <a:xfrm>
            <a:off x="365760" y="3858768"/>
            <a:ext cx="5760720" cy="109728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3858768"/>
            <a:ext cx="64008" cy="10972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3950208"/>
            <a:ext cx="2743200" cy="320040"/>
          </a:xfrm>
          <a:prstGeom prst="rect">
            <a:avLst/>
          </a:prstGeom>
          <a:noFill/>
        </p:spPr>
        <p:txBody>
          <a:bodyPr wrap="square">
            <a:spAutoFit/>
          </a:bodyPr>
          <a:lstStyle/>
          <a:p>
            <a:pPr algn="l"/>
            <a:r>
              <a:rPr sz="900" b="1" i="0">
                <a:solidFill>
                  <a:srgbClr val="F59E0B"/>
                </a:solidFill>
                <a:latin typeface="Calibri"/>
              </a:rPr>
              <a:t>CORE ENGINE</a:t>
            </a:r>
          </a:p>
        </p:txBody>
      </p:sp>
      <p:sp>
        <p:nvSpPr>
          <p:cNvPr id="19" name="TextBox 18"/>
          <p:cNvSpPr txBox="1"/>
          <p:nvPr/>
        </p:nvSpPr>
        <p:spPr>
          <a:xfrm>
            <a:off x="566928" y="4270248"/>
            <a:ext cx="5486400" cy="594360"/>
          </a:xfrm>
          <a:prstGeom prst="rect">
            <a:avLst/>
          </a:prstGeom>
          <a:noFill/>
        </p:spPr>
        <p:txBody>
          <a:bodyPr wrap="square">
            <a:spAutoFit/>
          </a:bodyPr>
          <a:lstStyle/>
          <a:p>
            <a:pPr algn="l"/>
            <a:r>
              <a:rPr sz="1050" b="0" i="0">
                <a:solidFill>
                  <a:srgbClr val="E5E7EB"/>
                </a:solidFill>
                <a:latin typeface="Calibri"/>
              </a:rPr>
              <a:t>Market Simulator  ·  Fill Engine  ·  Strategy Engine  ·  Evaluator</a:t>
            </a:r>
          </a:p>
        </p:txBody>
      </p:sp>
      <p:sp>
        <p:nvSpPr>
          <p:cNvPr id="20" name="TextBox 19"/>
          <p:cNvSpPr txBox="1"/>
          <p:nvPr/>
        </p:nvSpPr>
        <p:spPr>
          <a:xfrm>
            <a:off x="2926080" y="4956048"/>
            <a:ext cx="457200" cy="274320"/>
          </a:xfrm>
          <a:prstGeom prst="rect">
            <a:avLst/>
          </a:prstGeom>
          <a:noFill/>
        </p:spPr>
        <p:txBody>
          <a:bodyPr wrap="square">
            <a:spAutoFit/>
          </a:bodyPr>
          <a:lstStyle/>
          <a:p>
            <a:pPr algn="ctr"/>
            <a:r>
              <a:rPr sz="1200" b="0" i="0">
                <a:solidFill>
                  <a:srgbClr val="6B7280"/>
                </a:solidFill>
                <a:latin typeface="Calibri"/>
              </a:rPr>
              <a:t>▼</a:t>
            </a:r>
          </a:p>
        </p:txBody>
      </p:sp>
      <p:sp>
        <p:nvSpPr>
          <p:cNvPr id="21" name="Rectangle 20"/>
          <p:cNvSpPr/>
          <p:nvPr/>
        </p:nvSpPr>
        <p:spPr>
          <a:xfrm>
            <a:off x="365760" y="5157216"/>
            <a:ext cx="5760720" cy="109728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5157216"/>
            <a:ext cx="64008" cy="109728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5248656"/>
            <a:ext cx="2743200" cy="320040"/>
          </a:xfrm>
          <a:prstGeom prst="rect">
            <a:avLst/>
          </a:prstGeom>
          <a:noFill/>
        </p:spPr>
        <p:txBody>
          <a:bodyPr wrap="square">
            <a:spAutoFit/>
          </a:bodyPr>
          <a:lstStyle/>
          <a:p>
            <a:pPr algn="l"/>
            <a:r>
              <a:rPr sz="900" b="1" i="0">
                <a:solidFill>
                  <a:srgbClr val="6B7280"/>
                </a:solidFill>
                <a:latin typeface="Calibri"/>
              </a:rPr>
              <a:t>DATA</a:t>
            </a:r>
          </a:p>
        </p:txBody>
      </p:sp>
      <p:sp>
        <p:nvSpPr>
          <p:cNvPr id="24" name="TextBox 23"/>
          <p:cNvSpPr txBox="1"/>
          <p:nvPr/>
        </p:nvSpPr>
        <p:spPr>
          <a:xfrm>
            <a:off x="566928" y="5568696"/>
            <a:ext cx="5486400" cy="594360"/>
          </a:xfrm>
          <a:prstGeom prst="rect">
            <a:avLst/>
          </a:prstGeom>
          <a:noFill/>
        </p:spPr>
        <p:txBody>
          <a:bodyPr wrap="square">
            <a:spAutoFit/>
          </a:bodyPr>
          <a:lstStyle/>
          <a:p>
            <a:pPr algn="l"/>
            <a:r>
              <a:rPr sz="1050" b="0" i="0">
                <a:solidFill>
                  <a:srgbClr val="E5E7EB"/>
                </a:solidFill>
                <a:latin typeface="Calibri"/>
              </a:rPr>
              <a:t>PostgreSQL / SQLite  ·  Kaggle LOB Replayer  ·  Scenario Configs</a:t>
            </a:r>
          </a:p>
        </p:txBody>
      </p:sp>
      <p:sp>
        <p:nvSpPr>
          <p:cNvPr id="25" name="Rectangle 24"/>
          <p:cNvSpPr/>
          <p:nvPr/>
        </p:nvSpPr>
        <p:spPr>
          <a:xfrm>
            <a:off x="6492240" y="1261872"/>
            <a:ext cx="5394960" cy="6858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92240" y="1261872"/>
            <a:ext cx="64008" cy="6858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3408" y="1316736"/>
            <a:ext cx="5029200" cy="274320"/>
          </a:xfrm>
          <a:prstGeom prst="rect">
            <a:avLst/>
          </a:prstGeom>
          <a:noFill/>
        </p:spPr>
        <p:txBody>
          <a:bodyPr wrap="square">
            <a:spAutoFit/>
          </a:bodyPr>
          <a:lstStyle/>
          <a:p>
            <a:pPr algn="l"/>
            <a:r>
              <a:rPr sz="1100" b="1" i="0">
                <a:solidFill>
                  <a:srgbClr val="FFFFFF"/>
                </a:solidFill>
                <a:latin typeface="Calibri"/>
              </a:rPr>
              <a:t>01  Configure</a:t>
            </a:r>
          </a:p>
        </p:txBody>
      </p:sp>
      <p:sp>
        <p:nvSpPr>
          <p:cNvPr id="28" name="TextBox 27"/>
          <p:cNvSpPr txBox="1"/>
          <p:nvPr/>
        </p:nvSpPr>
        <p:spPr>
          <a:xfrm>
            <a:off x="6693408" y="1591056"/>
            <a:ext cx="5029200" cy="274320"/>
          </a:xfrm>
          <a:prstGeom prst="rect">
            <a:avLst/>
          </a:prstGeom>
          <a:noFill/>
        </p:spPr>
        <p:txBody>
          <a:bodyPr wrap="square">
            <a:spAutoFit/>
          </a:bodyPr>
          <a:lstStyle/>
          <a:p>
            <a:pPr algn="l"/>
            <a:r>
              <a:rPr sz="950" b="0" i="0">
                <a:solidFill>
                  <a:srgbClr val="6B7280"/>
                </a:solidFill>
                <a:latin typeface="Calibri"/>
              </a:rPr>
              <a:t>Symbol · Side · Qty · Strategy · Scenario · Seed</a:t>
            </a:r>
          </a:p>
        </p:txBody>
      </p:sp>
      <p:sp>
        <p:nvSpPr>
          <p:cNvPr id="29" name="TextBox 28"/>
          <p:cNvSpPr txBox="1"/>
          <p:nvPr/>
        </p:nvSpPr>
        <p:spPr>
          <a:xfrm>
            <a:off x="8961120" y="1947672"/>
            <a:ext cx="274320" cy="201168"/>
          </a:xfrm>
          <a:prstGeom prst="rect">
            <a:avLst/>
          </a:prstGeom>
          <a:noFill/>
        </p:spPr>
        <p:txBody>
          <a:bodyPr wrap="square">
            <a:spAutoFit/>
          </a:bodyPr>
          <a:lstStyle/>
          <a:p>
            <a:pPr algn="ctr"/>
            <a:r>
              <a:rPr sz="900" b="0" i="0">
                <a:solidFill>
                  <a:srgbClr val="1F2937"/>
                </a:solidFill>
                <a:latin typeface="Calibri"/>
              </a:rPr>
              <a:t>↓</a:t>
            </a:r>
          </a:p>
        </p:txBody>
      </p:sp>
      <p:sp>
        <p:nvSpPr>
          <p:cNvPr id="30" name="Rectangle 29"/>
          <p:cNvSpPr/>
          <p:nvPr/>
        </p:nvSpPr>
        <p:spPr>
          <a:xfrm>
            <a:off x="6492240" y="2057400"/>
            <a:ext cx="5394960" cy="6858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92240" y="2057400"/>
            <a:ext cx="64008" cy="6858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93408" y="2112264"/>
            <a:ext cx="5029200" cy="274320"/>
          </a:xfrm>
          <a:prstGeom prst="rect">
            <a:avLst/>
          </a:prstGeom>
          <a:noFill/>
        </p:spPr>
        <p:txBody>
          <a:bodyPr wrap="square">
            <a:spAutoFit/>
          </a:bodyPr>
          <a:lstStyle/>
          <a:p>
            <a:pPr algn="l"/>
            <a:r>
              <a:rPr sz="1100" b="1" i="0">
                <a:solidFill>
                  <a:srgbClr val="FFFFFF"/>
                </a:solidFill>
                <a:latin typeface="Calibri"/>
              </a:rPr>
              <a:t>02  Simulate</a:t>
            </a:r>
          </a:p>
        </p:txBody>
      </p:sp>
      <p:sp>
        <p:nvSpPr>
          <p:cNvPr id="33" name="TextBox 32"/>
          <p:cNvSpPr txBox="1"/>
          <p:nvPr/>
        </p:nvSpPr>
        <p:spPr>
          <a:xfrm>
            <a:off x="6693408" y="2386584"/>
            <a:ext cx="5029200" cy="274320"/>
          </a:xfrm>
          <a:prstGeom prst="rect">
            <a:avLst/>
          </a:prstGeom>
          <a:noFill/>
        </p:spPr>
        <p:txBody>
          <a:bodyPr wrap="square">
            <a:spAutoFit/>
          </a:bodyPr>
          <a:lstStyle/>
          <a:p>
            <a:pPr algn="l"/>
            <a:r>
              <a:rPr sz="950" b="0" i="0">
                <a:solidFill>
                  <a:srgbClr val="6B7280"/>
                </a:solidFill>
                <a:latin typeface="Calibri"/>
              </a:rPr>
              <a:t>GBM price path + shock injection at t=30s</a:t>
            </a:r>
          </a:p>
        </p:txBody>
      </p:sp>
      <p:sp>
        <p:nvSpPr>
          <p:cNvPr id="34" name="TextBox 33"/>
          <p:cNvSpPr txBox="1"/>
          <p:nvPr/>
        </p:nvSpPr>
        <p:spPr>
          <a:xfrm>
            <a:off x="8961120" y="2743200"/>
            <a:ext cx="274320" cy="201168"/>
          </a:xfrm>
          <a:prstGeom prst="rect">
            <a:avLst/>
          </a:prstGeom>
          <a:noFill/>
        </p:spPr>
        <p:txBody>
          <a:bodyPr wrap="square">
            <a:spAutoFit/>
          </a:bodyPr>
          <a:lstStyle/>
          <a:p>
            <a:pPr algn="ctr"/>
            <a:r>
              <a:rPr sz="900" b="0" i="0">
                <a:solidFill>
                  <a:srgbClr val="1F2937"/>
                </a:solidFill>
                <a:latin typeface="Calibri"/>
              </a:rPr>
              <a:t>↓</a:t>
            </a:r>
          </a:p>
        </p:txBody>
      </p:sp>
      <p:sp>
        <p:nvSpPr>
          <p:cNvPr id="35" name="Rectangle 34"/>
          <p:cNvSpPr/>
          <p:nvPr/>
        </p:nvSpPr>
        <p:spPr>
          <a:xfrm>
            <a:off x="6492240" y="2852928"/>
            <a:ext cx="5394960" cy="6858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92240" y="2852928"/>
            <a:ext cx="64008" cy="6858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93408" y="2907792"/>
            <a:ext cx="5029200" cy="274320"/>
          </a:xfrm>
          <a:prstGeom prst="rect">
            <a:avLst/>
          </a:prstGeom>
          <a:noFill/>
        </p:spPr>
        <p:txBody>
          <a:bodyPr wrap="square">
            <a:spAutoFit/>
          </a:bodyPr>
          <a:lstStyle/>
          <a:p>
            <a:pPr algn="l"/>
            <a:r>
              <a:rPr sz="1100" b="1" i="0">
                <a:solidFill>
                  <a:srgbClr val="FFFFFF"/>
                </a:solidFill>
                <a:latin typeface="Calibri"/>
              </a:rPr>
              <a:t>03  Decide</a:t>
            </a:r>
          </a:p>
        </p:txBody>
      </p:sp>
      <p:sp>
        <p:nvSpPr>
          <p:cNvPr id="38" name="TextBox 37"/>
          <p:cNvSpPr txBox="1"/>
          <p:nvPr/>
        </p:nvSpPr>
        <p:spPr>
          <a:xfrm>
            <a:off x="6693408" y="3182112"/>
            <a:ext cx="5029200" cy="274320"/>
          </a:xfrm>
          <a:prstGeom prst="rect">
            <a:avLst/>
          </a:prstGeom>
          <a:noFill/>
        </p:spPr>
        <p:txBody>
          <a:bodyPr wrap="square">
            <a:spAutoFit/>
          </a:bodyPr>
          <a:lstStyle/>
          <a:p>
            <a:pPr algn="l"/>
            <a:r>
              <a:rPr sz="950" b="0" i="0">
                <a:solidFill>
                  <a:srgbClr val="6B7280"/>
                </a:solidFill>
                <a:latin typeface="Calibri"/>
              </a:rPr>
              <a:t>Strategy slices order into optimal child-order per tick</a:t>
            </a:r>
          </a:p>
        </p:txBody>
      </p:sp>
      <p:sp>
        <p:nvSpPr>
          <p:cNvPr id="39" name="TextBox 38"/>
          <p:cNvSpPr txBox="1"/>
          <p:nvPr/>
        </p:nvSpPr>
        <p:spPr>
          <a:xfrm>
            <a:off x="8961120" y="3538728"/>
            <a:ext cx="274320" cy="201168"/>
          </a:xfrm>
          <a:prstGeom prst="rect">
            <a:avLst/>
          </a:prstGeom>
          <a:noFill/>
        </p:spPr>
        <p:txBody>
          <a:bodyPr wrap="square">
            <a:spAutoFit/>
          </a:bodyPr>
          <a:lstStyle/>
          <a:p>
            <a:pPr algn="ctr"/>
            <a:r>
              <a:rPr sz="900" b="0" i="0">
                <a:solidFill>
                  <a:srgbClr val="1F2937"/>
                </a:solidFill>
                <a:latin typeface="Calibri"/>
              </a:rPr>
              <a:t>↓</a:t>
            </a:r>
          </a:p>
        </p:txBody>
      </p:sp>
      <p:sp>
        <p:nvSpPr>
          <p:cNvPr id="40" name="Rectangle 39"/>
          <p:cNvSpPr/>
          <p:nvPr/>
        </p:nvSpPr>
        <p:spPr>
          <a:xfrm>
            <a:off x="6492240" y="3648456"/>
            <a:ext cx="5394960" cy="6858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92240" y="3648456"/>
            <a:ext cx="64008" cy="6858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93408" y="3703320"/>
            <a:ext cx="5029200" cy="274320"/>
          </a:xfrm>
          <a:prstGeom prst="rect">
            <a:avLst/>
          </a:prstGeom>
          <a:noFill/>
        </p:spPr>
        <p:txBody>
          <a:bodyPr wrap="square">
            <a:spAutoFit/>
          </a:bodyPr>
          <a:lstStyle/>
          <a:p>
            <a:pPr algn="l"/>
            <a:r>
              <a:rPr sz="1100" b="1" i="0">
                <a:solidFill>
                  <a:srgbClr val="FFFFFF"/>
                </a:solidFill>
                <a:latin typeface="Calibri"/>
              </a:rPr>
              <a:t>04  Fill</a:t>
            </a:r>
          </a:p>
        </p:txBody>
      </p:sp>
      <p:sp>
        <p:nvSpPr>
          <p:cNvPr id="43" name="TextBox 42"/>
          <p:cNvSpPr txBox="1"/>
          <p:nvPr/>
        </p:nvSpPr>
        <p:spPr>
          <a:xfrm>
            <a:off x="6693408" y="3977640"/>
            <a:ext cx="5029200" cy="274320"/>
          </a:xfrm>
          <a:prstGeom prst="rect">
            <a:avLst/>
          </a:prstGeom>
          <a:noFill/>
        </p:spPr>
        <p:txBody>
          <a:bodyPr wrap="square">
            <a:spAutoFit/>
          </a:bodyPr>
          <a:lstStyle/>
          <a:p>
            <a:pPr algn="l"/>
            <a:r>
              <a:rPr sz="950" b="0" i="0">
                <a:solidFill>
                  <a:srgbClr val="6B7280"/>
                </a:solidFill>
                <a:latin typeface="Calibri"/>
              </a:rPr>
              <a:t>Volume cap → spread + impact + fee cost computed</a:t>
            </a:r>
          </a:p>
        </p:txBody>
      </p:sp>
      <p:sp>
        <p:nvSpPr>
          <p:cNvPr id="44" name="TextBox 43"/>
          <p:cNvSpPr txBox="1"/>
          <p:nvPr/>
        </p:nvSpPr>
        <p:spPr>
          <a:xfrm>
            <a:off x="8961120" y="4334256"/>
            <a:ext cx="274320" cy="201168"/>
          </a:xfrm>
          <a:prstGeom prst="rect">
            <a:avLst/>
          </a:prstGeom>
          <a:noFill/>
        </p:spPr>
        <p:txBody>
          <a:bodyPr wrap="square">
            <a:spAutoFit/>
          </a:bodyPr>
          <a:lstStyle/>
          <a:p>
            <a:pPr algn="ctr"/>
            <a:r>
              <a:rPr sz="900" b="0" i="0">
                <a:solidFill>
                  <a:srgbClr val="1F2937"/>
                </a:solidFill>
                <a:latin typeface="Calibri"/>
              </a:rPr>
              <a:t>↓</a:t>
            </a:r>
          </a:p>
        </p:txBody>
      </p:sp>
      <p:sp>
        <p:nvSpPr>
          <p:cNvPr id="45" name="Rectangle 44"/>
          <p:cNvSpPr/>
          <p:nvPr/>
        </p:nvSpPr>
        <p:spPr>
          <a:xfrm>
            <a:off x="6492240" y="4443983"/>
            <a:ext cx="5394960" cy="6858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492240" y="4443983"/>
            <a:ext cx="64008" cy="6858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93408" y="4498847"/>
            <a:ext cx="5029200" cy="274320"/>
          </a:xfrm>
          <a:prstGeom prst="rect">
            <a:avLst/>
          </a:prstGeom>
          <a:noFill/>
        </p:spPr>
        <p:txBody>
          <a:bodyPr wrap="square">
            <a:spAutoFit/>
          </a:bodyPr>
          <a:lstStyle/>
          <a:p>
            <a:pPr algn="l"/>
            <a:r>
              <a:rPr sz="1100" b="1" i="0">
                <a:solidFill>
                  <a:srgbClr val="FFFFFF"/>
                </a:solidFill>
                <a:latin typeface="Calibri"/>
              </a:rPr>
              <a:t>05  Stream</a:t>
            </a:r>
          </a:p>
        </p:txBody>
      </p:sp>
      <p:sp>
        <p:nvSpPr>
          <p:cNvPr id="48" name="TextBox 47"/>
          <p:cNvSpPr txBox="1"/>
          <p:nvPr/>
        </p:nvSpPr>
        <p:spPr>
          <a:xfrm>
            <a:off x="6693408" y="4773167"/>
            <a:ext cx="5029200" cy="274320"/>
          </a:xfrm>
          <a:prstGeom prst="rect">
            <a:avLst/>
          </a:prstGeom>
          <a:noFill/>
        </p:spPr>
        <p:txBody>
          <a:bodyPr wrap="square">
            <a:spAutoFit/>
          </a:bodyPr>
          <a:lstStyle/>
          <a:p>
            <a:pPr algn="l"/>
            <a:r>
              <a:rPr sz="950" b="0" i="0">
                <a:solidFill>
                  <a:srgbClr val="6B7280"/>
                </a:solidFill>
                <a:latin typeface="Calibri"/>
              </a:rPr>
              <a:t>WebSocket broadcasts market state + fill live</a:t>
            </a:r>
          </a:p>
        </p:txBody>
      </p:sp>
      <p:sp>
        <p:nvSpPr>
          <p:cNvPr id="49" name="TextBox 48"/>
          <p:cNvSpPr txBox="1"/>
          <p:nvPr/>
        </p:nvSpPr>
        <p:spPr>
          <a:xfrm>
            <a:off x="8961120" y="5129783"/>
            <a:ext cx="274320" cy="201168"/>
          </a:xfrm>
          <a:prstGeom prst="rect">
            <a:avLst/>
          </a:prstGeom>
          <a:noFill/>
        </p:spPr>
        <p:txBody>
          <a:bodyPr wrap="square">
            <a:spAutoFit/>
          </a:bodyPr>
          <a:lstStyle/>
          <a:p>
            <a:pPr algn="ctr"/>
            <a:r>
              <a:rPr sz="900" b="0" i="0">
                <a:solidFill>
                  <a:srgbClr val="1F2937"/>
                </a:solidFill>
                <a:latin typeface="Calibri"/>
              </a:rPr>
              <a:t>↓</a:t>
            </a:r>
          </a:p>
        </p:txBody>
      </p:sp>
      <p:sp>
        <p:nvSpPr>
          <p:cNvPr id="50" name="Rectangle 49"/>
          <p:cNvSpPr/>
          <p:nvPr/>
        </p:nvSpPr>
        <p:spPr>
          <a:xfrm>
            <a:off x="6492240" y="5239512"/>
            <a:ext cx="5394960" cy="6858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92240" y="5239512"/>
            <a:ext cx="64008" cy="6858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693408" y="5294376"/>
            <a:ext cx="5029200" cy="274320"/>
          </a:xfrm>
          <a:prstGeom prst="rect">
            <a:avLst/>
          </a:prstGeom>
          <a:noFill/>
        </p:spPr>
        <p:txBody>
          <a:bodyPr wrap="square">
            <a:spAutoFit/>
          </a:bodyPr>
          <a:lstStyle/>
          <a:p>
            <a:pPr algn="l"/>
            <a:r>
              <a:rPr sz="1100" b="1" i="0">
                <a:solidFill>
                  <a:srgbClr val="FFFFFF"/>
                </a:solidFill>
                <a:latin typeface="Calibri"/>
              </a:rPr>
              <a:t>06  Evaluate</a:t>
            </a:r>
          </a:p>
        </p:txBody>
      </p:sp>
      <p:sp>
        <p:nvSpPr>
          <p:cNvPr id="53" name="TextBox 52"/>
          <p:cNvSpPr txBox="1"/>
          <p:nvPr/>
        </p:nvSpPr>
        <p:spPr>
          <a:xfrm>
            <a:off x="6693408" y="5568696"/>
            <a:ext cx="5029200" cy="274320"/>
          </a:xfrm>
          <a:prstGeom prst="rect">
            <a:avLst/>
          </a:prstGeom>
          <a:noFill/>
        </p:spPr>
        <p:txBody>
          <a:bodyPr wrap="square">
            <a:spAutoFit/>
          </a:bodyPr>
          <a:lstStyle/>
          <a:p>
            <a:pPr algn="l"/>
            <a:r>
              <a:rPr sz="950" b="0" i="0">
                <a:solidFill>
                  <a:srgbClr val="6B7280"/>
                </a:solidFill>
                <a:latin typeface="Calibri"/>
              </a:rPr>
              <a:t>VWAP · IS · Cost (bps) · Risk Score · Stability</a:t>
            </a:r>
          </a:p>
        </p:txBody>
      </p:sp>
      <p:sp>
        <p:nvSpPr>
          <p:cNvPr id="54" name="TextBox 53"/>
          <p:cNvSpPr txBox="1"/>
          <p:nvPr/>
        </p:nvSpPr>
        <p:spPr>
          <a:xfrm>
            <a:off x="8961120" y="5925312"/>
            <a:ext cx="274320" cy="201168"/>
          </a:xfrm>
          <a:prstGeom prst="rect">
            <a:avLst/>
          </a:prstGeom>
          <a:noFill/>
        </p:spPr>
        <p:txBody>
          <a:bodyPr wrap="square">
            <a:spAutoFit/>
          </a:bodyPr>
          <a:lstStyle/>
          <a:p>
            <a:pPr algn="ctr"/>
            <a:r>
              <a:rPr sz="900" b="0" i="0">
                <a:solidFill>
                  <a:srgbClr val="1F2937"/>
                </a:solidFill>
                <a:latin typeface="Calibri"/>
              </a:rPr>
              <a:t>↓</a:t>
            </a:r>
          </a:p>
        </p:txBody>
      </p:sp>
      <p:sp>
        <p:nvSpPr>
          <p:cNvPr id="55" name="Rectangle 54"/>
          <p:cNvSpPr/>
          <p:nvPr/>
        </p:nvSpPr>
        <p:spPr>
          <a:xfrm>
            <a:off x="6492240" y="6035040"/>
            <a:ext cx="5394960" cy="6858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492240" y="6035040"/>
            <a:ext cx="64008" cy="68580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93408" y="6089904"/>
            <a:ext cx="5029200" cy="274320"/>
          </a:xfrm>
          <a:prstGeom prst="rect">
            <a:avLst/>
          </a:prstGeom>
          <a:noFill/>
        </p:spPr>
        <p:txBody>
          <a:bodyPr wrap="square">
            <a:spAutoFit/>
          </a:bodyPr>
          <a:lstStyle/>
          <a:p>
            <a:pPr algn="l"/>
            <a:r>
              <a:rPr sz="1100" b="1" i="0">
                <a:solidFill>
                  <a:srgbClr val="FFFFFF"/>
                </a:solidFill>
                <a:latin typeface="Calibri"/>
              </a:rPr>
              <a:t>07  Benchmark</a:t>
            </a:r>
          </a:p>
        </p:txBody>
      </p:sp>
      <p:sp>
        <p:nvSpPr>
          <p:cNvPr id="58" name="TextBox 57"/>
          <p:cNvSpPr txBox="1"/>
          <p:nvPr/>
        </p:nvSpPr>
        <p:spPr>
          <a:xfrm>
            <a:off x="6693408" y="6364224"/>
            <a:ext cx="5029200" cy="274320"/>
          </a:xfrm>
          <a:prstGeom prst="rect">
            <a:avLst/>
          </a:prstGeom>
          <a:noFill/>
        </p:spPr>
        <p:txBody>
          <a:bodyPr wrap="square">
            <a:spAutoFit/>
          </a:bodyPr>
          <a:lstStyle/>
          <a:p>
            <a:pPr algn="l"/>
            <a:r>
              <a:rPr sz="950" b="0" i="0">
                <a:solidFill>
                  <a:srgbClr val="6B7280"/>
                </a:solidFill>
                <a:latin typeface="Calibri"/>
              </a:rPr>
              <a:t>All 3 strategies replayed on identical market path</a:t>
            </a:r>
          </a:p>
        </p:txBody>
      </p:sp>
      <p:sp>
        <p:nvSpPr>
          <p:cNvPr id="59" name="Rectangle 58"/>
          <p:cNvSpPr/>
          <p:nvPr/>
        </p:nvSpPr>
        <p:spPr>
          <a:xfrm>
            <a:off x="6309360" y="1234440"/>
            <a:ext cx="27432" cy="530352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117"/>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9144000" cy="502920"/>
          </a:xfrm>
          <a:prstGeom prst="rect">
            <a:avLst/>
          </a:prstGeom>
          <a:noFill/>
        </p:spPr>
        <p:txBody>
          <a:bodyPr wrap="square">
            <a:spAutoFit/>
          </a:bodyPr>
          <a:lstStyle/>
          <a:p>
            <a:pPr algn="l"/>
            <a:r>
              <a:rPr sz="3000" b="1" i="0">
                <a:solidFill>
                  <a:srgbClr val="FFFFFF"/>
                </a:solidFill>
                <a:latin typeface="Calibri"/>
              </a:rPr>
              <a:t>TECH STACK &amp; RESULTS</a:t>
            </a:r>
          </a:p>
        </p:txBody>
      </p:sp>
      <p:sp>
        <p:nvSpPr>
          <p:cNvPr id="4" name="TextBox 3"/>
          <p:cNvSpPr txBox="1"/>
          <p:nvPr/>
        </p:nvSpPr>
        <p:spPr>
          <a:xfrm>
            <a:off x="457200" y="685800"/>
            <a:ext cx="10972800" cy="365760"/>
          </a:xfrm>
          <a:prstGeom prst="rect">
            <a:avLst/>
          </a:prstGeom>
          <a:noFill/>
        </p:spPr>
        <p:txBody>
          <a:bodyPr wrap="square">
            <a:spAutoFit/>
          </a:bodyPr>
          <a:lstStyle/>
          <a:p>
            <a:pPr algn="l"/>
            <a:r>
              <a:rPr sz="1300" b="0" i="0">
                <a:solidFill>
                  <a:srgbClr val="6B7280"/>
                </a:solidFill>
                <a:latin typeface="Calibri"/>
              </a:rPr>
              <a:t>What we built with — and proof that it works.</a:t>
            </a:r>
          </a:p>
        </p:txBody>
      </p:sp>
      <p:sp>
        <p:nvSpPr>
          <p:cNvPr id="5" name="Rectangle 4"/>
          <p:cNvSpPr/>
          <p:nvPr/>
        </p:nvSpPr>
        <p:spPr>
          <a:xfrm>
            <a:off x="0" y="1078992"/>
            <a:ext cx="12188952" cy="27432"/>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34440"/>
            <a:ext cx="4572000" cy="347472"/>
          </a:xfrm>
          <a:prstGeom prst="rect">
            <a:avLst/>
          </a:prstGeom>
          <a:noFill/>
        </p:spPr>
        <p:txBody>
          <a:bodyPr wrap="square">
            <a:spAutoFit/>
          </a:bodyPr>
          <a:lstStyle/>
          <a:p>
            <a:pPr algn="l"/>
            <a:r>
              <a:rPr sz="900" b="1" i="0">
                <a:solidFill>
                  <a:srgbClr val="6B7280"/>
                </a:solidFill>
                <a:latin typeface="Calibri"/>
              </a:rPr>
              <a:t>TECH STACK</a:t>
            </a:r>
          </a:p>
        </p:txBody>
      </p:sp>
      <p:sp>
        <p:nvSpPr>
          <p:cNvPr id="7" name="Rectangle 6"/>
          <p:cNvSpPr/>
          <p:nvPr/>
        </p:nvSpPr>
        <p:spPr>
          <a:xfrm>
            <a:off x="365760" y="1600200"/>
            <a:ext cx="5486400" cy="667512"/>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600200"/>
            <a:ext cx="64008" cy="66751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664208"/>
            <a:ext cx="5029200" cy="274320"/>
          </a:xfrm>
          <a:prstGeom prst="rect">
            <a:avLst/>
          </a:prstGeom>
          <a:noFill/>
        </p:spPr>
        <p:txBody>
          <a:bodyPr wrap="square">
            <a:spAutoFit/>
          </a:bodyPr>
          <a:lstStyle/>
          <a:p>
            <a:pPr algn="l"/>
            <a:r>
              <a:rPr sz="1200" b="1" i="0">
                <a:solidFill>
                  <a:srgbClr val="FFFFFF"/>
                </a:solidFill>
                <a:latin typeface="Calibri"/>
              </a:rPr>
              <a:t>FastAPI</a:t>
            </a:r>
          </a:p>
        </p:txBody>
      </p:sp>
      <p:sp>
        <p:nvSpPr>
          <p:cNvPr id="10" name="TextBox 9"/>
          <p:cNvSpPr txBox="1"/>
          <p:nvPr/>
        </p:nvSpPr>
        <p:spPr>
          <a:xfrm>
            <a:off x="566928" y="1947672"/>
            <a:ext cx="5029200" cy="274320"/>
          </a:xfrm>
          <a:prstGeom prst="rect">
            <a:avLst/>
          </a:prstGeom>
          <a:noFill/>
        </p:spPr>
        <p:txBody>
          <a:bodyPr wrap="square">
            <a:spAutoFit/>
          </a:bodyPr>
          <a:lstStyle/>
          <a:p>
            <a:pPr algn="l"/>
            <a:r>
              <a:rPr sz="900" b="0" i="0">
                <a:solidFill>
                  <a:srgbClr val="6B7280"/>
                </a:solidFill>
                <a:latin typeface="Calibri"/>
              </a:rPr>
              <a:t>REST API · WebSocket streaming · async routes</a:t>
            </a:r>
          </a:p>
        </p:txBody>
      </p:sp>
      <p:sp>
        <p:nvSpPr>
          <p:cNvPr id="11" name="Rectangle 10"/>
          <p:cNvSpPr/>
          <p:nvPr/>
        </p:nvSpPr>
        <p:spPr>
          <a:xfrm>
            <a:off x="365760" y="2395728"/>
            <a:ext cx="5486400" cy="667512"/>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395728"/>
            <a:ext cx="64008" cy="667512"/>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459736"/>
            <a:ext cx="5029200" cy="274320"/>
          </a:xfrm>
          <a:prstGeom prst="rect">
            <a:avLst/>
          </a:prstGeom>
          <a:noFill/>
        </p:spPr>
        <p:txBody>
          <a:bodyPr wrap="square">
            <a:spAutoFit/>
          </a:bodyPr>
          <a:lstStyle/>
          <a:p>
            <a:pPr algn="l"/>
            <a:r>
              <a:rPr sz="1200" b="1" i="0">
                <a:solidFill>
                  <a:srgbClr val="FFFFFF"/>
                </a:solidFill>
                <a:latin typeface="Calibri"/>
              </a:rPr>
              <a:t>Pydantic v2</a:t>
            </a:r>
          </a:p>
        </p:txBody>
      </p:sp>
      <p:sp>
        <p:nvSpPr>
          <p:cNvPr id="14" name="TextBox 13"/>
          <p:cNvSpPr txBox="1"/>
          <p:nvPr/>
        </p:nvSpPr>
        <p:spPr>
          <a:xfrm>
            <a:off x="566928" y="2743200"/>
            <a:ext cx="5029200" cy="274320"/>
          </a:xfrm>
          <a:prstGeom prst="rect">
            <a:avLst/>
          </a:prstGeom>
          <a:noFill/>
        </p:spPr>
        <p:txBody>
          <a:bodyPr wrap="square">
            <a:spAutoFit/>
          </a:bodyPr>
          <a:lstStyle/>
          <a:p>
            <a:pPr algn="l"/>
            <a:r>
              <a:rPr sz="900" b="0" i="0">
                <a:solidFill>
                  <a:srgbClr val="6B7280"/>
                </a:solidFill>
                <a:latin typeface="Calibri"/>
              </a:rPr>
              <a:t>Schema validation · request/response models</a:t>
            </a:r>
          </a:p>
        </p:txBody>
      </p:sp>
      <p:sp>
        <p:nvSpPr>
          <p:cNvPr id="15" name="Rectangle 14"/>
          <p:cNvSpPr/>
          <p:nvPr/>
        </p:nvSpPr>
        <p:spPr>
          <a:xfrm>
            <a:off x="365760" y="3191256"/>
            <a:ext cx="5486400" cy="667512"/>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3191256"/>
            <a:ext cx="64008" cy="66751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255264"/>
            <a:ext cx="5029200" cy="274320"/>
          </a:xfrm>
          <a:prstGeom prst="rect">
            <a:avLst/>
          </a:prstGeom>
          <a:noFill/>
        </p:spPr>
        <p:txBody>
          <a:bodyPr wrap="square">
            <a:spAutoFit/>
          </a:bodyPr>
          <a:lstStyle/>
          <a:p>
            <a:pPr algn="l"/>
            <a:r>
              <a:rPr sz="1200" b="1" i="0">
                <a:solidFill>
                  <a:srgbClr val="FFFFFF"/>
                </a:solidFill>
                <a:latin typeface="Calibri"/>
              </a:rPr>
              <a:t>SQLAlchemy 2.x</a:t>
            </a:r>
          </a:p>
        </p:txBody>
      </p:sp>
      <p:sp>
        <p:nvSpPr>
          <p:cNvPr id="18" name="TextBox 17"/>
          <p:cNvSpPr txBox="1"/>
          <p:nvPr/>
        </p:nvSpPr>
        <p:spPr>
          <a:xfrm>
            <a:off x="566928" y="3538728"/>
            <a:ext cx="5029200" cy="274320"/>
          </a:xfrm>
          <a:prstGeom prst="rect">
            <a:avLst/>
          </a:prstGeom>
          <a:noFill/>
        </p:spPr>
        <p:txBody>
          <a:bodyPr wrap="square">
            <a:spAutoFit/>
          </a:bodyPr>
          <a:lstStyle/>
          <a:p>
            <a:pPr algn="l"/>
            <a:r>
              <a:rPr sz="900" b="0" i="0">
                <a:solidFill>
                  <a:srgbClr val="6B7280"/>
                </a:solidFill>
                <a:latin typeface="Calibri"/>
              </a:rPr>
              <a:t>ORM · PostgreSQL + SQLite support · async sessions</a:t>
            </a:r>
          </a:p>
        </p:txBody>
      </p:sp>
      <p:sp>
        <p:nvSpPr>
          <p:cNvPr id="19" name="Rectangle 18"/>
          <p:cNvSpPr/>
          <p:nvPr/>
        </p:nvSpPr>
        <p:spPr>
          <a:xfrm>
            <a:off x="365760" y="3986783"/>
            <a:ext cx="5486400" cy="667512"/>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3986783"/>
            <a:ext cx="64008" cy="667512"/>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4050791"/>
            <a:ext cx="5029200" cy="274320"/>
          </a:xfrm>
          <a:prstGeom prst="rect">
            <a:avLst/>
          </a:prstGeom>
          <a:noFill/>
        </p:spPr>
        <p:txBody>
          <a:bodyPr wrap="square">
            <a:spAutoFit/>
          </a:bodyPr>
          <a:lstStyle/>
          <a:p>
            <a:pPr algn="l"/>
            <a:r>
              <a:rPr sz="1200" b="1" i="0">
                <a:solidFill>
                  <a:srgbClr val="FFFFFF"/>
                </a:solidFill>
                <a:latin typeface="Calibri"/>
              </a:rPr>
              <a:t>NumPy / Pandas</a:t>
            </a:r>
          </a:p>
        </p:txBody>
      </p:sp>
      <p:sp>
        <p:nvSpPr>
          <p:cNvPr id="22" name="TextBox 21"/>
          <p:cNvSpPr txBox="1"/>
          <p:nvPr/>
        </p:nvSpPr>
        <p:spPr>
          <a:xfrm>
            <a:off x="566928" y="4334255"/>
            <a:ext cx="5029200" cy="274320"/>
          </a:xfrm>
          <a:prstGeom prst="rect">
            <a:avLst/>
          </a:prstGeom>
          <a:noFill/>
        </p:spPr>
        <p:txBody>
          <a:bodyPr wrap="square">
            <a:spAutoFit/>
          </a:bodyPr>
          <a:lstStyle/>
          <a:p>
            <a:pPr algn="l"/>
            <a:r>
              <a:rPr sz="900" b="0" i="0">
                <a:solidFill>
                  <a:srgbClr val="6B7280"/>
                </a:solidFill>
                <a:latin typeface="Calibri"/>
              </a:rPr>
              <a:t>GBM simulation · Kaggle LOB data processing</a:t>
            </a:r>
          </a:p>
        </p:txBody>
      </p:sp>
      <p:sp>
        <p:nvSpPr>
          <p:cNvPr id="23" name="Rectangle 22"/>
          <p:cNvSpPr/>
          <p:nvPr/>
        </p:nvSpPr>
        <p:spPr>
          <a:xfrm>
            <a:off x="365760" y="4782312"/>
            <a:ext cx="5486400" cy="667512"/>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4782312"/>
            <a:ext cx="64008" cy="66751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4846320"/>
            <a:ext cx="5029200" cy="274320"/>
          </a:xfrm>
          <a:prstGeom prst="rect">
            <a:avLst/>
          </a:prstGeom>
          <a:noFill/>
        </p:spPr>
        <p:txBody>
          <a:bodyPr wrap="square">
            <a:spAutoFit/>
          </a:bodyPr>
          <a:lstStyle/>
          <a:p>
            <a:pPr algn="l"/>
            <a:r>
              <a:rPr sz="1200" b="1" i="0">
                <a:solidFill>
                  <a:srgbClr val="FFFFFF"/>
                </a:solidFill>
                <a:latin typeface="Calibri"/>
              </a:rPr>
              <a:t>WebSockets</a:t>
            </a:r>
          </a:p>
        </p:txBody>
      </p:sp>
      <p:sp>
        <p:nvSpPr>
          <p:cNvPr id="26" name="TextBox 25"/>
          <p:cNvSpPr txBox="1"/>
          <p:nvPr/>
        </p:nvSpPr>
        <p:spPr>
          <a:xfrm>
            <a:off x="566928" y="5129784"/>
            <a:ext cx="5029200" cy="274320"/>
          </a:xfrm>
          <a:prstGeom prst="rect">
            <a:avLst/>
          </a:prstGeom>
          <a:noFill/>
        </p:spPr>
        <p:txBody>
          <a:bodyPr wrap="square">
            <a:spAutoFit/>
          </a:bodyPr>
          <a:lstStyle/>
          <a:p>
            <a:pPr algn="l"/>
            <a:r>
              <a:rPr sz="900" b="0" i="0">
                <a:solidFill>
                  <a:srgbClr val="6B7280"/>
                </a:solidFill>
                <a:latin typeface="Calibri"/>
              </a:rPr>
              <a:t>Live tick streaming to React frontend</a:t>
            </a:r>
          </a:p>
        </p:txBody>
      </p:sp>
      <p:sp>
        <p:nvSpPr>
          <p:cNvPr id="27" name="Rectangle 26"/>
          <p:cNvSpPr/>
          <p:nvPr/>
        </p:nvSpPr>
        <p:spPr>
          <a:xfrm>
            <a:off x="365760" y="5577840"/>
            <a:ext cx="5486400" cy="667512"/>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5760" y="5577840"/>
            <a:ext cx="64008" cy="667512"/>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5641848"/>
            <a:ext cx="5029200" cy="274320"/>
          </a:xfrm>
          <a:prstGeom prst="rect">
            <a:avLst/>
          </a:prstGeom>
          <a:noFill/>
        </p:spPr>
        <p:txBody>
          <a:bodyPr wrap="square">
            <a:spAutoFit/>
          </a:bodyPr>
          <a:lstStyle/>
          <a:p>
            <a:pPr algn="l"/>
            <a:r>
              <a:rPr sz="1200" b="1" i="0">
                <a:solidFill>
                  <a:srgbClr val="FFFFFF"/>
                </a:solidFill>
                <a:latin typeface="Calibri"/>
              </a:rPr>
              <a:t>React</a:t>
            </a:r>
          </a:p>
        </p:txBody>
      </p:sp>
      <p:sp>
        <p:nvSpPr>
          <p:cNvPr id="30" name="TextBox 29"/>
          <p:cNvSpPr txBox="1"/>
          <p:nvPr/>
        </p:nvSpPr>
        <p:spPr>
          <a:xfrm>
            <a:off x="566928" y="5925312"/>
            <a:ext cx="5029200" cy="274320"/>
          </a:xfrm>
          <a:prstGeom prst="rect">
            <a:avLst/>
          </a:prstGeom>
          <a:noFill/>
        </p:spPr>
        <p:txBody>
          <a:bodyPr wrap="square">
            <a:spAutoFit/>
          </a:bodyPr>
          <a:lstStyle/>
          <a:p>
            <a:pPr algn="l"/>
            <a:r>
              <a:rPr sz="900" b="0" i="0">
                <a:solidFill>
                  <a:srgbClr val="6B7280"/>
                </a:solidFill>
                <a:latin typeface="Calibri"/>
              </a:rPr>
              <a:t>Dashboard · charts · config form (Frontend layer)</a:t>
            </a:r>
          </a:p>
        </p:txBody>
      </p:sp>
      <p:sp>
        <p:nvSpPr>
          <p:cNvPr id="31" name="Rectangle 30"/>
          <p:cNvSpPr/>
          <p:nvPr/>
        </p:nvSpPr>
        <p:spPr>
          <a:xfrm>
            <a:off x="6309360" y="1234440"/>
            <a:ext cx="27432" cy="530352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1234440"/>
            <a:ext cx="5394960" cy="365760"/>
          </a:xfrm>
          <a:prstGeom prst="rect">
            <a:avLst/>
          </a:prstGeom>
          <a:noFill/>
        </p:spPr>
        <p:txBody>
          <a:bodyPr wrap="square">
            <a:spAutoFit/>
          </a:bodyPr>
          <a:lstStyle/>
          <a:p>
            <a:pPr algn="l"/>
            <a:r>
              <a:rPr sz="900" b="1" i="0">
                <a:solidFill>
                  <a:srgbClr val="6B7280"/>
                </a:solidFill>
                <a:latin typeface="Calibri"/>
              </a:rPr>
              <a:t>BENCHMARK RESULTS  (Kaggle Optiver LOB · Vol Shock · 10,000 shares)</a:t>
            </a:r>
          </a:p>
        </p:txBody>
      </p:sp>
      <p:sp>
        <p:nvSpPr>
          <p:cNvPr id="33" name="Rectangle 32"/>
          <p:cNvSpPr/>
          <p:nvPr/>
        </p:nvSpPr>
        <p:spPr>
          <a:xfrm>
            <a:off x="6492240" y="1627632"/>
            <a:ext cx="5394960" cy="384048"/>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37960" y="1691640"/>
            <a:ext cx="1280160" cy="256032"/>
          </a:xfrm>
          <a:prstGeom prst="rect">
            <a:avLst/>
          </a:prstGeom>
          <a:noFill/>
        </p:spPr>
        <p:txBody>
          <a:bodyPr wrap="square">
            <a:spAutoFit/>
          </a:bodyPr>
          <a:lstStyle/>
          <a:p>
            <a:pPr algn="l"/>
            <a:r>
              <a:rPr sz="900" b="1" i="0">
                <a:solidFill>
                  <a:srgbClr val="FFFFFF"/>
                </a:solidFill>
                <a:latin typeface="Calibri"/>
              </a:rPr>
              <a:t>Strategy</a:t>
            </a:r>
          </a:p>
        </p:txBody>
      </p:sp>
      <p:sp>
        <p:nvSpPr>
          <p:cNvPr id="35" name="TextBox 34"/>
          <p:cNvSpPr txBox="1"/>
          <p:nvPr/>
        </p:nvSpPr>
        <p:spPr>
          <a:xfrm>
            <a:off x="7872983" y="1691640"/>
            <a:ext cx="1280160" cy="256032"/>
          </a:xfrm>
          <a:prstGeom prst="rect">
            <a:avLst/>
          </a:prstGeom>
          <a:noFill/>
        </p:spPr>
        <p:txBody>
          <a:bodyPr wrap="square">
            <a:spAutoFit/>
          </a:bodyPr>
          <a:lstStyle/>
          <a:p>
            <a:pPr algn="l"/>
            <a:r>
              <a:rPr sz="900" b="1" i="0">
                <a:solidFill>
                  <a:srgbClr val="FFFFFF"/>
                </a:solidFill>
                <a:latin typeface="Calibri"/>
              </a:rPr>
              <a:t>Cost ($)</a:t>
            </a:r>
          </a:p>
        </p:txBody>
      </p:sp>
      <p:sp>
        <p:nvSpPr>
          <p:cNvPr id="36" name="TextBox 35"/>
          <p:cNvSpPr txBox="1"/>
          <p:nvPr/>
        </p:nvSpPr>
        <p:spPr>
          <a:xfrm>
            <a:off x="9208008" y="1691640"/>
            <a:ext cx="1280160" cy="256032"/>
          </a:xfrm>
          <a:prstGeom prst="rect">
            <a:avLst/>
          </a:prstGeom>
          <a:noFill/>
        </p:spPr>
        <p:txBody>
          <a:bodyPr wrap="square">
            <a:spAutoFit/>
          </a:bodyPr>
          <a:lstStyle/>
          <a:p>
            <a:pPr algn="l"/>
            <a:r>
              <a:rPr sz="900" b="1" i="0">
                <a:solidFill>
                  <a:srgbClr val="FFFFFF"/>
                </a:solidFill>
                <a:latin typeface="Calibri"/>
              </a:rPr>
              <a:t>Cost (bps)</a:t>
            </a:r>
          </a:p>
        </p:txBody>
      </p:sp>
      <p:sp>
        <p:nvSpPr>
          <p:cNvPr id="37" name="TextBox 36"/>
          <p:cNvSpPr txBox="1"/>
          <p:nvPr/>
        </p:nvSpPr>
        <p:spPr>
          <a:xfrm>
            <a:off x="10543032" y="1691640"/>
            <a:ext cx="1280160" cy="256032"/>
          </a:xfrm>
          <a:prstGeom prst="rect">
            <a:avLst/>
          </a:prstGeom>
          <a:noFill/>
        </p:spPr>
        <p:txBody>
          <a:bodyPr wrap="square">
            <a:spAutoFit/>
          </a:bodyPr>
          <a:lstStyle/>
          <a:p>
            <a:pPr algn="l"/>
            <a:r>
              <a:rPr sz="900" b="1" i="0">
                <a:solidFill>
                  <a:srgbClr val="FFFFFF"/>
                </a:solidFill>
                <a:latin typeface="Calibri"/>
              </a:rPr>
              <a:t>Stability</a:t>
            </a:r>
          </a:p>
        </p:txBody>
      </p:sp>
      <p:sp>
        <p:nvSpPr>
          <p:cNvPr id="38" name="Rectangle 37"/>
          <p:cNvSpPr/>
          <p:nvPr/>
        </p:nvSpPr>
        <p:spPr>
          <a:xfrm>
            <a:off x="6492240" y="2011680"/>
            <a:ext cx="5394960" cy="50292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37960" y="2121408"/>
            <a:ext cx="1280160" cy="292608"/>
          </a:xfrm>
          <a:prstGeom prst="rect">
            <a:avLst/>
          </a:prstGeom>
          <a:noFill/>
        </p:spPr>
        <p:txBody>
          <a:bodyPr wrap="square">
            <a:spAutoFit/>
          </a:bodyPr>
          <a:lstStyle/>
          <a:p>
            <a:pPr algn="l"/>
            <a:r>
              <a:rPr sz="1100" b="0" i="0">
                <a:solidFill>
                  <a:srgbClr val="FFFFFF"/>
                </a:solidFill>
                <a:latin typeface="Calibri"/>
              </a:rPr>
              <a:t>TWAP</a:t>
            </a:r>
          </a:p>
        </p:txBody>
      </p:sp>
      <p:sp>
        <p:nvSpPr>
          <p:cNvPr id="40" name="TextBox 39"/>
          <p:cNvSpPr txBox="1"/>
          <p:nvPr/>
        </p:nvSpPr>
        <p:spPr>
          <a:xfrm>
            <a:off x="7872983" y="2121408"/>
            <a:ext cx="1280160" cy="292608"/>
          </a:xfrm>
          <a:prstGeom prst="rect">
            <a:avLst/>
          </a:prstGeom>
          <a:noFill/>
        </p:spPr>
        <p:txBody>
          <a:bodyPr wrap="square">
            <a:spAutoFit/>
          </a:bodyPr>
          <a:lstStyle/>
          <a:p>
            <a:pPr algn="l"/>
            <a:r>
              <a:rPr sz="1100" b="0" i="0">
                <a:solidFill>
                  <a:srgbClr val="FFFFFF"/>
                </a:solidFill>
                <a:latin typeface="Calibri"/>
              </a:rPr>
              <a:t>$3,182</a:t>
            </a:r>
          </a:p>
        </p:txBody>
      </p:sp>
      <p:sp>
        <p:nvSpPr>
          <p:cNvPr id="41" name="TextBox 40"/>
          <p:cNvSpPr txBox="1"/>
          <p:nvPr/>
        </p:nvSpPr>
        <p:spPr>
          <a:xfrm>
            <a:off x="9208008" y="2121408"/>
            <a:ext cx="1280160" cy="292608"/>
          </a:xfrm>
          <a:prstGeom prst="rect">
            <a:avLst/>
          </a:prstGeom>
          <a:noFill/>
        </p:spPr>
        <p:txBody>
          <a:bodyPr wrap="square">
            <a:spAutoFit/>
          </a:bodyPr>
          <a:lstStyle/>
          <a:p>
            <a:pPr algn="l"/>
            <a:r>
              <a:rPr sz="1100" b="0" i="0">
                <a:solidFill>
                  <a:srgbClr val="FFFFFF"/>
                </a:solidFill>
                <a:latin typeface="Calibri"/>
              </a:rPr>
              <a:t>31.8 bps</a:t>
            </a:r>
          </a:p>
        </p:txBody>
      </p:sp>
      <p:sp>
        <p:nvSpPr>
          <p:cNvPr id="42" name="TextBox 41"/>
          <p:cNvSpPr txBox="1"/>
          <p:nvPr/>
        </p:nvSpPr>
        <p:spPr>
          <a:xfrm>
            <a:off x="10543032" y="2121408"/>
            <a:ext cx="1280160" cy="292608"/>
          </a:xfrm>
          <a:prstGeom prst="rect">
            <a:avLst/>
          </a:prstGeom>
          <a:noFill/>
        </p:spPr>
        <p:txBody>
          <a:bodyPr wrap="square">
            <a:spAutoFit/>
          </a:bodyPr>
          <a:lstStyle/>
          <a:p>
            <a:pPr algn="l"/>
            <a:r>
              <a:rPr sz="1100" b="0" i="0">
                <a:solidFill>
                  <a:srgbClr val="FFFFFF"/>
                </a:solidFill>
                <a:latin typeface="Calibri"/>
              </a:rPr>
              <a:t>0.99</a:t>
            </a:r>
          </a:p>
        </p:txBody>
      </p:sp>
      <p:sp>
        <p:nvSpPr>
          <p:cNvPr id="43" name="Rectangle 42"/>
          <p:cNvSpPr/>
          <p:nvPr/>
        </p:nvSpPr>
        <p:spPr>
          <a:xfrm>
            <a:off x="6492240" y="2560320"/>
            <a:ext cx="5394960" cy="50292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37960" y="2670048"/>
            <a:ext cx="1280160" cy="292608"/>
          </a:xfrm>
          <a:prstGeom prst="rect">
            <a:avLst/>
          </a:prstGeom>
          <a:noFill/>
        </p:spPr>
        <p:txBody>
          <a:bodyPr wrap="square">
            <a:spAutoFit/>
          </a:bodyPr>
          <a:lstStyle/>
          <a:p>
            <a:pPr algn="l"/>
            <a:r>
              <a:rPr sz="1100" b="0" i="0">
                <a:solidFill>
                  <a:srgbClr val="FFFFFF"/>
                </a:solidFill>
                <a:latin typeface="Calibri"/>
              </a:rPr>
              <a:t>Volume-Aware</a:t>
            </a:r>
          </a:p>
        </p:txBody>
      </p:sp>
      <p:sp>
        <p:nvSpPr>
          <p:cNvPr id="45" name="TextBox 44"/>
          <p:cNvSpPr txBox="1"/>
          <p:nvPr/>
        </p:nvSpPr>
        <p:spPr>
          <a:xfrm>
            <a:off x="7872983" y="2670048"/>
            <a:ext cx="1280160" cy="292608"/>
          </a:xfrm>
          <a:prstGeom prst="rect">
            <a:avLst/>
          </a:prstGeom>
          <a:noFill/>
        </p:spPr>
        <p:txBody>
          <a:bodyPr wrap="square">
            <a:spAutoFit/>
          </a:bodyPr>
          <a:lstStyle/>
          <a:p>
            <a:pPr algn="l"/>
            <a:r>
              <a:rPr sz="1100" b="0" i="0">
                <a:solidFill>
                  <a:srgbClr val="FFFFFF"/>
                </a:solidFill>
                <a:latin typeface="Calibri"/>
              </a:rPr>
              <a:t>$1,547</a:t>
            </a:r>
          </a:p>
        </p:txBody>
      </p:sp>
      <p:sp>
        <p:nvSpPr>
          <p:cNvPr id="46" name="TextBox 45"/>
          <p:cNvSpPr txBox="1"/>
          <p:nvPr/>
        </p:nvSpPr>
        <p:spPr>
          <a:xfrm>
            <a:off x="9208008" y="2670048"/>
            <a:ext cx="1280160" cy="292608"/>
          </a:xfrm>
          <a:prstGeom prst="rect">
            <a:avLst/>
          </a:prstGeom>
          <a:noFill/>
        </p:spPr>
        <p:txBody>
          <a:bodyPr wrap="square">
            <a:spAutoFit/>
          </a:bodyPr>
          <a:lstStyle/>
          <a:p>
            <a:pPr algn="l"/>
            <a:r>
              <a:rPr sz="1100" b="0" i="0">
                <a:solidFill>
                  <a:srgbClr val="FFFFFF"/>
                </a:solidFill>
                <a:latin typeface="Calibri"/>
              </a:rPr>
              <a:t>15.5 bps</a:t>
            </a:r>
          </a:p>
        </p:txBody>
      </p:sp>
      <p:sp>
        <p:nvSpPr>
          <p:cNvPr id="47" name="TextBox 46"/>
          <p:cNvSpPr txBox="1"/>
          <p:nvPr/>
        </p:nvSpPr>
        <p:spPr>
          <a:xfrm>
            <a:off x="10543032" y="2670048"/>
            <a:ext cx="1280160" cy="292608"/>
          </a:xfrm>
          <a:prstGeom prst="rect">
            <a:avLst/>
          </a:prstGeom>
          <a:noFill/>
        </p:spPr>
        <p:txBody>
          <a:bodyPr wrap="square">
            <a:spAutoFit/>
          </a:bodyPr>
          <a:lstStyle/>
          <a:p>
            <a:pPr algn="l"/>
            <a:r>
              <a:rPr sz="1100" b="0" i="0">
                <a:solidFill>
                  <a:srgbClr val="FFFFFF"/>
                </a:solidFill>
                <a:latin typeface="Calibri"/>
              </a:rPr>
              <a:t>0.97</a:t>
            </a:r>
          </a:p>
        </p:txBody>
      </p:sp>
      <p:sp>
        <p:nvSpPr>
          <p:cNvPr id="48" name="Rectangle 47"/>
          <p:cNvSpPr/>
          <p:nvPr/>
        </p:nvSpPr>
        <p:spPr>
          <a:xfrm>
            <a:off x="6492240" y="3108960"/>
            <a:ext cx="5394960" cy="502920"/>
          </a:xfrm>
          <a:prstGeom prst="rect">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37960" y="3218688"/>
            <a:ext cx="1280160" cy="292608"/>
          </a:xfrm>
          <a:prstGeom prst="rect">
            <a:avLst/>
          </a:prstGeom>
          <a:noFill/>
        </p:spPr>
        <p:txBody>
          <a:bodyPr wrap="square">
            <a:spAutoFit/>
          </a:bodyPr>
          <a:lstStyle/>
          <a:p>
            <a:pPr algn="l"/>
            <a:r>
              <a:rPr sz="1100" b="1" i="0">
                <a:solidFill>
                  <a:srgbClr val="14B8A6"/>
                </a:solidFill>
                <a:latin typeface="Calibri"/>
              </a:rPr>
              <a:t>Adaptive ★</a:t>
            </a:r>
          </a:p>
        </p:txBody>
      </p:sp>
      <p:sp>
        <p:nvSpPr>
          <p:cNvPr id="50" name="TextBox 49"/>
          <p:cNvSpPr txBox="1"/>
          <p:nvPr/>
        </p:nvSpPr>
        <p:spPr>
          <a:xfrm>
            <a:off x="7872983" y="3218688"/>
            <a:ext cx="1280160" cy="292608"/>
          </a:xfrm>
          <a:prstGeom prst="rect">
            <a:avLst/>
          </a:prstGeom>
          <a:noFill/>
        </p:spPr>
        <p:txBody>
          <a:bodyPr wrap="square">
            <a:spAutoFit/>
          </a:bodyPr>
          <a:lstStyle/>
          <a:p>
            <a:pPr algn="l"/>
            <a:r>
              <a:rPr sz="1100" b="1" i="0">
                <a:solidFill>
                  <a:srgbClr val="14B8A6"/>
                </a:solidFill>
                <a:latin typeface="Calibri"/>
              </a:rPr>
              <a:t>$1,484</a:t>
            </a:r>
          </a:p>
        </p:txBody>
      </p:sp>
      <p:sp>
        <p:nvSpPr>
          <p:cNvPr id="51" name="TextBox 50"/>
          <p:cNvSpPr txBox="1"/>
          <p:nvPr/>
        </p:nvSpPr>
        <p:spPr>
          <a:xfrm>
            <a:off x="9208008" y="3218688"/>
            <a:ext cx="1280160" cy="292608"/>
          </a:xfrm>
          <a:prstGeom prst="rect">
            <a:avLst/>
          </a:prstGeom>
          <a:noFill/>
        </p:spPr>
        <p:txBody>
          <a:bodyPr wrap="square">
            <a:spAutoFit/>
          </a:bodyPr>
          <a:lstStyle/>
          <a:p>
            <a:pPr algn="l"/>
            <a:r>
              <a:rPr sz="1100" b="1" i="0">
                <a:solidFill>
                  <a:srgbClr val="14B8A6"/>
                </a:solidFill>
                <a:latin typeface="Calibri"/>
              </a:rPr>
              <a:t>14.8 bps</a:t>
            </a:r>
          </a:p>
        </p:txBody>
      </p:sp>
      <p:sp>
        <p:nvSpPr>
          <p:cNvPr id="52" name="TextBox 51"/>
          <p:cNvSpPr txBox="1"/>
          <p:nvPr/>
        </p:nvSpPr>
        <p:spPr>
          <a:xfrm>
            <a:off x="10543032" y="3218688"/>
            <a:ext cx="1280160" cy="292608"/>
          </a:xfrm>
          <a:prstGeom prst="rect">
            <a:avLst/>
          </a:prstGeom>
          <a:noFill/>
        </p:spPr>
        <p:txBody>
          <a:bodyPr wrap="square">
            <a:spAutoFit/>
          </a:bodyPr>
          <a:lstStyle/>
          <a:p>
            <a:pPr algn="l"/>
            <a:r>
              <a:rPr sz="1100" b="1" i="0">
                <a:solidFill>
                  <a:srgbClr val="14B8A6"/>
                </a:solidFill>
                <a:latin typeface="Calibri"/>
              </a:rPr>
              <a:t>0.96</a:t>
            </a:r>
          </a:p>
        </p:txBody>
      </p:sp>
      <p:sp>
        <p:nvSpPr>
          <p:cNvPr id="53" name="Rectangle 52"/>
          <p:cNvSpPr/>
          <p:nvPr/>
        </p:nvSpPr>
        <p:spPr>
          <a:xfrm>
            <a:off x="6492240" y="3337560"/>
            <a:ext cx="5394960" cy="13716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92240" y="3401568"/>
            <a:ext cx="5394960" cy="868680"/>
          </a:xfrm>
          <a:prstGeom prst="rect">
            <a:avLst/>
          </a:prstGeom>
          <a:noFill/>
        </p:spPr>
        <p:txBody>
          <a:bodyPr wrap="square">
            <a:spAutoFit/>
          </a:bodyPr>
          <a:lstStyle/>
          <a:p>
            <a:pPr algn="ctr"/>
            <a:r>
              <a:rPr sz="6200" b="1" i="0">
                <a:solidFill>
                  <a:srgbClr val="FFFFFF"/>
                </a:solidFill>
                <a:latin typeface="Calibri"/>
              </a:rPr>
              <a:t>53%</a:t>
            </a:r>
          </a:p>
        </p:txBody>
      </p:sp>
      <p:sp>
        <p:nvSpPr>
          <p:cNvPr id="55" name="TextBox 54"/>
          <p:cNvSpPr txBox="1"/>
          <p:nvPr/>
        </p:nvSpPr>
        <p:spPr>
          <a:xfrm>
            <a:off x="6492240" y="4206240"/>
            <a:ext cx="5394960" cy="384048"/>
          </a:xfrm>
          <a:prstGeom prst="rect">
            <a:avLst/>
          </a:prstGeom>
          <a:noFill/>
        </p:spPr>
        <p:txBody>
          <a:bodyPr wrap="square">
            <a:spAutoFit/>
          </a:bodyPr>
          <a:lstStyle/>
          <a:p>
            <a:pPr algn="ctr"/>
            <a:r>
              <a:rPr sz="950" b="0" i="0">
                <a:solidFill>
                  <a:srgbClr val="E5E7EB"/>
                </a:solidFill>
                <a:latin typeface="Calibri"/>
              </a:rPr>
              <a:t>cost reduction vs TWAP  ·  same market · same data · same seed</a:t>
            </a:r>
          </a:p>
        </p:txBody>
      </p:sp>
      <p:sp>
        <p:nvSpPr>
          <p:cNvPr id="56" name="TextBox 55"/>
          <p:cNvSpPr txBox="1"/>
          <p:nvPr/>
        </p:nvSpPr>
        <p:spPr>
          <a:xfrm>
            <a:off x="6492240" y="4892040"/>
            <a:ext cx="5394960" cy="320040"/>
          </a:xfrm>
          <a:prstGeom prst="rect">
            <a:avLst/>
          </a:prstGeom>
          <a:noFill/>
        </p:spPr>
        <p:txBody>
          <a:bodyPr wrap="square">
            <a:spAutoFit/>
          </a:bodyPr>
          <a:lstStyle/>
          <a:p>
            <a:pPr algn="l"/>
            <a:r>
              <a:rPr sz="900" b="1" i="0">
                <a:solidFill>
                  <a:srgbClr val="6B7280"/>
                </a:solidFill>
                <a:latin typeface="Calibri"/>
              </a:rPr>
              <a:t>TEST COVERAGE</a:t>
            </a:r>
          </a:p>
        </p:txBody>
      </p:sp>
      <p:sp>
        <p:nvSpPr>
          <p:cNvPr id="57" name="Rectangle 56"/>
          <p:cNvSpPr/>
          <p:nvPr/>
        </p:nvSpPr>
        <p:spPr>
          <a:xfrm>
            <a:off x="6492240" y="5212080"/>
            <a:ext cx="1234440" cy="118872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492240" y="5212080"/>
            <a:ext cx="1234440" cy="4572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583680" y="5321808"/>
            <a:ext cx="1051560" cy="640080"/>
          </a:xfrm>
          <a:prstGeom prst="rect">
            <a:avLst/>
          </a:prstGeom>
          <a:noFill/>
        </p:spPr>
        <p:txBody>
          <a:bodyPr wrap="square">
            <a:spAutoFit/>
          </a:bodyPr>
          <a:lstStyle/>
          <a:p>
            <a:pPr algn="ctr"/>
            <a:r>
              <a:rPr sz="3000" b="1" i="0">
                <a:solidFill>
                  <a:srgbClr val="4F46E5"/>
                </a:solidFill>
                <a:latin typeface="Calibri"/>
              </a:rPr>
              <a:t>131</a:t>
            </a:r>
          </a:p>
        </p:txBody>
      </p:sp>
      <p:sp>
        <p:nvSpPr>
          <p:cNvPr id="60" name="TextBox 59"/>
          <p:cNvSpPr txBox="1"/>
          <p:nvPr/>
        </p:nvSpPr>
        <p:spPr>
          <a:xfrm>
            <a:off x="6583680" y="5989320"/>
            <a:ext cx="1051560" cy="320040"/>
          </a:xfrm>
          <a:prstGeom prst="rect">
            <a:avLst/>
          </a:prstGeom>
          <a:noFill/>
        </p:spPr>
        <p:txBody>
          <a:bodyPr wrap="square">
            <a:spAutoFit/>
          </a:bodyPr>
          <a:lstStyle/>
          <a:p>
            <a:pPr algn="ctr"/>
            <a:r>
              <a:rPr sz="850" b="0" i="0">
                <a:solidFill>
                  <a:srgbClr val="6B7280"/>
                </a:solidFill>
                <a:latin typeface="Calibri"/>
              </a:rPr>
              <a:t>Total Tests</a:t>
            </a:r>
          </a:p>
        </p:txBody>
      </p:sp>
      <p:sp>
        <p:nvSpPr>
          <p:cNvPr id="61" name="Rectangle 60"/>
          <p:cNvSpPr/>
          <p:nvPr/>
        </p:nvSpPr>
        <p:spPr>
          <a:xfrm>
            <a:off x="7836408" y="5212080"/>
            <a:ext cx="1234440" cy="118872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836408" y="5212080"/>
            <a:ext cx="1234440" cy="457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927848" y="5321808"/>
            <a:ext cx="1051560" cy="640080"/>
          </a:xfrm>
          <a:prstGeom prst="rect">
            <a:avLst/>
          </a:prstGeom>
          <a:noFill/>
        </p:spPr>
        <p:txBody>
          <a:bodyPr wrap="square">
            <a:spAutoFit/>
          </a:bodyPr>
          <a:lstStyle/>
          <a:p>
            <a:pPr algn="ctr"/>
            <a:r>
              <a:rPr sz="3000" b="1" i="0">
                <a:solidFill>
                  <a:srgbClr val="14B8A6"/>
                </a:solidFill>
                <a:latin typeface="Calibri"/>
              </a:rPr>
              <a:t>81</a:t>
            </a:r>
          </a:p>
        </p:txBody>
      </p:sp>
      <p:sp>
        <p:nvSpPr>
          <p:cNvPr id="64" name="TextBox 63"/>
          <p:cNvSpPr txBox="1"/>
          <p:nvPr/>
        </p:nvSpPr>
        <p:spPr>
          <a:xfrm>
            <a:off x="7927848" y="5989320"/>
            <a:ext cx="1051560" cy="320040"/>
          </a:xfrm>
          <a:prstGeom prst="rect">
            <a:avLst/>
          </a:prstGeom>
          <a:noFill/>
        </p:spPr>
        <p:txBody>
          <a:bodyPr wrap="square">
            <a:spAutoFit/>
          </a:bodyPr>
          <a:lstStyle/>
          <a:p>
            <a:pPr algn="ctr"/>
            <a:r>
              <a:rPr sz="850" b="0" i="0">
                <a:solidFill>
                  <a:srgbClr val="6B7280"/>
                </a:solidFill>
                <a:latin typeface="Calibri"/>
              </a:rPr>
              <a:t>Backend</a:t>
            </a:r>
          </a:p>
        </p:txBody>
      </p:sp>
      <p:sp>
        <p:nvSpPr>
          <p:cNvPr id="65" name="Rectangle 64"/>
          <p:cNvSpPr/>
          <p:nvPr/>
        </p:nvSpPr>
        <p:spPr>
          <a:xfrm>
            <a:off x="9180576" y="5212080"/>
            <a:ext cx="1234440" cy="118872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9180576" y="5212080"/>
            <a:ext cx="123444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272016" y="5321808"/>
            <a:ext cx="1051560" cy="640080"/>
          </a:xfrm>
          <a:prstGeom prst="rect">
            <a:avLst/>
          </a:prstGeom>
          <a:noFill/>
        </p:spPr>
        <p:txBody>
          <a:bodyPr wrap="square">
            <a:spAutoFit/>
          </a:bodyPr>
          <a:lstStyle/>
          <a:p>
            <a:pPr algn="ctr"/>
            <a:r>
              <a:rPr sz="3000" b="1" i="0">
                <a:solidFill>
                  <a:srgbClr val="F59E0B"/>
                </a:solidFill>
                <a:latin typeface="Calibri"/>
              </a:rPr>
              <a:t>46</a:t>
            </a:r>
          </a:p>
        </p:txBody>
      </p:sp>
      <p:sp>
        <p:nvSpPr>
          <p:cNvPr id="68" name="TextBox 67"/>
          <p:cNvSpPr txBox="1"/>
          <p:nvPr/>
        </p:nvSpPr>
        <p:spPr>
          <a:xfrm>
            <a:off x="9272016" y="5989320"/>
            <a:ext cx="1051560" cy="320040"/>
          </a:xfrm>
          <a:prstGeom prst="rect">
            <a:avLst/>
          </a:prstGeom>
          <a:noFill/>
        </p:spPr>
        <p:txBody>
          <a:bodyPr wrap="square">
            <a:spAutoFit/>
          </a:bodyPr>
          <a:lstStyle/>
          <a:p>
            <a:pPr algn="ctr"/>
            <a:r>
              <a:rPr sz="850" b="0" i="0">
                <a:solidFill>
                  <a:srgbClr val="6B7280"/>
                </a:solidFill>
                <a:latin typeface="Calibri"/>
              </a:rPr>
              <a:t>Engine</a:t>
            </a:r>
          </a:p>
        </p:txBody>
      </p:sp>
      <p:sp>
        <p:nvSpPr>
          <p:cNvPr id="69" name="Rectangle 68"/>
          <p:cNvSpPr/>
          <p:nvPr/>
        </p:nvSpPr>
        <p:spPr>
          <a:xfrm>
            <a:off x="10524744" y="5212080"/>
            <a:ext cx="1234440" cy="118872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0524744" y="5212080"/>
            <a:ext cx="1234440"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616184" y="5321808"/>
            <a:ext cx="1051560" cy="640080"/>
          </a:xfrm>
          <a:prstGeom prst="rect">
            <a:avLst/>
          </a:prstGeom>
          <a:noFill/>
        </p:spPr>
        <p:txBody>
          <a:bodyPr wrap="square">
            <a:spAutoFit/>
          </a:bodyPr>
          <a:lstStyle/>
          <a:p>
            <a:pPr algn="ctr"/>
            <a:r>
              <a:rPr sz="3000" b="1" i="0">
                <a:solidFill>
                  <a:srgbClr val="EF4444"/>
                </a:solidFill>
                <a:latin typeface="Calibri"/>
              </a:rPr>
              <a:t>4</a:t>
            </a:r>
          </a:p>
        </p:txBody>
      </p:sp>
      <p:sp>
        <p:nvSpPr>
          <p:cNvPr id="72" name="TextBox 71"/>
          <p:cNvSpPr txBox="1"/>
          <p:nvPr/>
        </p:nvSpPr>
        <p:spPr>
          <a:xfrm>
            <a:off x="10616184" y="5989320"/>
            <a:ext cx="1051560" cy="320040"/>
          </a:xfrm>
          <a:prstGeom prst="rect">
            <a:avLst/>
          </a:prstGeom>
          <a:noFill/>
        </p:spPr>
        <p:txBody>
          <a:bodyPr wrap="square">
            <a:spAutoFit/>
          </a:bodyPr>
          <a:lstStyle/>
          <a:p>
            <a:pPr algn="ctr"/>
            <a:r>
              <a:rPr sz="850" b="0" i="0">
                <a:solidFill>
                  <a:srgbClr val="6B7280"/>
                </a:solidFill>
                <a:latin typeface="Calibri"/>
              </a:rPr>
              <a:t>Kaggle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